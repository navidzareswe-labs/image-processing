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90" r:id="rId2"/>
    <p:sldId id="257" r:id="rId3"/>
    <p:sldId id="258" r:id="rId4"/>
    <p:sldId id="259" r:id="rId5"/>
    <p:sldId id="260" r:id="rId6"/>
    <p:sldId id="262" r:id="rId7"/>
    <p:sldId id="291" r:id="rId8"/>
    <p:sldId id="264" r:id="rId9"/>
    <p:sldId id="265" r:id="rId10"/>
    <p:sldId id="266" r:id="rId11"/>
    <p:sldId id="267" r:id="rId12"/>
    <p:sldId id="268" r:id="rId13"/>
    <p:sldId id="292" r:id="rId14"/>
    <p:sldId id="270" r:id="rId15"/>
    <p:sldId id="271" r:id="rId16"/>
    <p:sldId id="293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94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69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43" y="-1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104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the paper: DnCNN by Zhang et al., published in IEEE TIP 2017. One of the most influential papers in image denoising, cited over 6000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overview. Four main parts: motivation, architecture, results, and critical analysis. About 40 minutes total including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denoising: given a noisy observation y, recover clean image x. Noise model is additive white Gaussian. Applications span medical, satellite, surveillance, photography. Problem is ill-posed — infinitely many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gap: Three key failures of prior methods. BM3D/WNNM are slow (minutes per image). CSF/TNRD need separate models per noise level. Analysis priors can't capture full image structure. DnCNN addresses all four research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BM3D was the gold standard for a decade. WNNM exploits low-rank. EPLL uses Gaussian mixtures. TNRD unrolls optimization. Note patch sizes — DnCNN's 35×35 RF is the smallest yet competitive.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Mathematical bridge: classical Bayesian view uses explicit prior Phi(x). DnCNN implicitly learns priors through CNN parameters. DnCNN generalizes one-stage TNRD by replacing influence functions with ReLU and adding depth + BN.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transition: Architecture deep-dive.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DnCNN: three types of layers. Layer 1 = Conv+ReLU (64 filters 3×3). Middle layers = Conv+BN+ReLU (64 filters 3×3×64). Final layer = Conv (reconstructs residual). Key: no pooling preserves spatial resolution.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predict noise instead of clean image? At low noise y≈x, so identity mapping is hard. The residual (noise) is a small perturbation — much easier to learn. MSE loss on the residual.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finding: RL and BN are synergistic. RL makes hidden layers Gaussian-like (ideal for BN). BN alleviates covariate shift (helps RL converge). Together: 29.16 dB. Neither alone gets close. Consistent across SGD and Adam.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Depth determines receptive field. RF = (2d+1)². No pooling, so each 3×3 conv adds 2px per side. DnCNN-S: depth 17, RF 35×35. DnCNN-B/3: depth 20, RF 41×41. VGG principle: many small filters.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DnCNN-3 unifies three tasks under y=x+v. All three noise types satisfy the TNRD residual condition. One model handles denoising, super-resolution, and JPEG deblocking.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transition: Data and training methodology.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data: 400 images for DnCNN-S, BSD for color. Patches extracted with augmentation. Test: BSD68, 12 classics, Set5/14, LIVE1. No overlap between train/test.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SGD with momentum 0.9, weight decay 0.0001. Learning rate decays from 0.1 to 0.0001 over 50 epochs. He initialization. Batch size 128. Training: 6 hours to 3 days on Titan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transition: Experimental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PSNR measures pixel-level error in dB. Higher is better. 0.5 dB improvement is significant. SSIM measures structural similarity, correlates better with human perception. Levin &amp; Nadler estimated BM3D theoretical bound at ~0.7 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BSD68 results: DnCNN-S outperforms BM3D by ~0.6 dB at ALL noise levels. DnCNN-B (blind, unknown sigma) still beats all noise-specific competitors. Approaching the theoretical bound.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Per-image: DnCNN wins on most images. Exception: Barbara and House have repetitive patterns where non-local methods (WNNM) excel. Expected — DnCNN has only local receptive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quality: BM3D/WNNM over-smooth. TNRD has smooth-region artifacts. DnCNN achieves sharp edges AND clean smooth regions — best of both worlds. CDnCNN-B produces more natural color than CBM3D.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Blind denoising: DnCNN-B outperforms BM3D by 0.2-0.9 dB across all sigma. No noise estimation needed. DnCNN-3 matches or beats task-specific SOTA across denoising, SR, and JPEG deblocking with ONE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transition: Critical analysis and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Runtime: 60ms for 512×512 on GPU. 12,000× faster than WNNM. Only ~556K parameters. Feed-forward = predictable latency. GPU-friendly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is lightweight by modern standards. Potential optimizations: pruning (30-50% reduction), INT8 quantization (2-4× memory savings), knowledge distillation, depthwise separable convolutions (8-9× FLOP reduction).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key limitations: (1) local RF can't exploit non-local similarity, (2) AWGN doesn't match real noise, (3) MSE optimizes PSNR not perception, (4) no attention or multi-scale. Each addressed by later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contributions: residual learning for denoising, RL+BN synergy discovery, SOTA approaching theoretical bounds, blind + multi-task in single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DnCNN established residual learning + BN as the standard. Influenced SwinIR, Restormer, DRUNet. Open questions: real-world noise, perceptual quality, efficient deployment, self-supervised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references: Zhang 2017 (this paper), Dabov 2007 (BM3D), He 2016 (ResNet), Ioffe 2015 (BatchNorm), Chen 2016 (TNRD), plus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Questions and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r="2576" b="5724"/>
          <a:stretch>
            <a:fillRect/>
          </a:stretch>
        </p:blipFill>
        <p:spPr>
          <a:xfrm>
            <a:off x="0" y="0"/>
            <a:ext cx="18300547" cy="10287000"/>
          </a:xfrm>
          <a:prstGeom prst="rect">
            <a:avLst/>
          </a:prstGeom>
        </p:spPr>
      </p:pic>
      <p:sp>
        <p:nvSpPr>
          <p:cNvPr id="8" name="Text 40">
            <a:extLst>
              <a:ext uri="{FF2B5EF4-FFF2-40B4-BE49-F238E27FC236}">
                <a16:creationId xmlns:a16="http://schemas.microsoft.com/office/drawing/2014/main" id="{5352C8C4-F23A-9D88-9567-A4A4382E16C1}"/>
              </a:ext>
            </a:extLst>
          </p:cNvPr>
          <p:cNvSpPr/>
          <p:nvPr/>
        </p:nvSpPr>
        <p:spPr>
          <a:xfrm>
            <a:off x="16962040" y="9730317"/>
            <a:ext cx="944959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endParaRPr lang="en-US" sz="1650" dirty="0"/>
          </a:p>
        </p:txBody>
      </p:sp>
      <p:sp>
        <p:nvSpPr>
          <p:cNvPr id="9" name="Text 40">
            <a:extLst>
              <a:ext uri="{FF2B5EF4-FFF2-40B4-BE49-F238E27FC236}">
                <a16:creationId xmlns:a16="http://schemas.microsoft.com/office/drawing/2014/main" id="{DBEDF979-7163-A08E-14ED-3062C7AEA024}"/>
              </a:ext>
            </a:extLst>
          </p:cNvPr>
          <p:cNvSpPr/>
          <p:nvPr/>
        </p:nvSpPr>
        <p:spPr>
          <a:xfrm>
            <a:off x="16962040" y="9748598"/>
            <a:ext cx="944959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b="1" kern="0" spc="15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33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5808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kern="0" spc="150" dirty="0">
                <a:solidFill>
                  <a:srgbClr val="927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600" y="654558"/>
            <a:ext cx="17580864" cy="708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Roadmap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95842" y="1451504"/>
            <a:ext cx="4224338" cy="8168746"/>
          </a:xfrm>
          <a:prstGeom prst="roundRect">
            <a:avLst>
              <a:gd name="adj" fmla="val 3157"/>
            </a:avLst>
          </a:prstGeom>
          <a:solidFill>
            <a:srgbClr val="1113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09600" y="9592734"/>
            <a:ext cx="4224338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9600" y="1432454"/>
            <a:ext cx="4224338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9600" y="1432454"/>
            <a:ext cx="33867" cy="8168746"/>
          </a:xfrm>
          <a:prstGeom prst="rect">
            <a:avLst/>
          </a:prstGeom>
          <a:solidFill>
            <a:srgbClr val="2A1C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25471" y="1432454"/>
            <a:ext cx="9525" cy="8168746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9527" y="2034768"/>
            <a:ext cx="3993520" cy="2608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4800" dirty="0">
                <a:solidFill>
                  <a:srgbClr val="927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1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807609" y="3372843"/>
            <a:ext cx="3993520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Motivation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94797" y="4659817"/>
            <a:ext cx="4153429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2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2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</a:t>
            </a:r>
            <a:endParaRPr lang="en-US" sz="2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2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methods</a:t>
            </a:r>
            <a:endParaRPr lang="en-US" sz="2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2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bridge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4891088" y="1468437"/>
            <a:ext cx="4224338" cy="8168746"/>
          </a:xfrm>
          <a:prstGeom prst="roundRect">
            <a:avLst>
              <a:gd name="adj" fmla="val 3157"/>
            </a:avLst>
          </a:prstGeom>
          <a:solidFill>
            <a:srgbClr val="1113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91088" y="9592734"/>
            <a:ext cx="4224338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91088" y="1432454"/>
            <a:ext cx="4224338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91088" y="1432454"/>
            <a:ext cx="33867" cy="8168746"/>
          </a:xfrm>
          <a:prstGeom prst="rect">
            <a:avLst/>
          </a:prstGeom>
          <a:solidFill>
            <a:srgbClr val="3CD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106958" y="1432454"/>
            <a:ext cx="9525" cy="8168746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58973" y="2012227"/>
            <a:ext cx="3993520" cy="2608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4800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2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5135664" y="3338654"/>
            <a:ext cx="3993520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Design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053013" y="4664869"/>
            <a:ext cx="4153429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2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architecture</a:t>
            </a:r>
            <a:endParaRPr lang="en-US" sz="2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2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learning</a:t>
            </a:r>
            <a:endParaRPr lang="en-US" sz="2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2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+ BN synergy</a:t>
            </a:r>
            <a:endParaRPr lang="en-US" sz="2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2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Multi-task extension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172575" y="1432454"/>
            <a:ext cx="4224338" cy="8168746"/>
          </a:xfrm>
          <a:prstGeom prst="roundRect">
            <a:avLst>
              <a:gd name="adj" fmla="val 3157"/>
            </a:avLst>
          </a:prstGeom>
          <a:solidFill>
            <a:srgbClr val="1113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172575" y="9592734"/>
            <a:ext cx="4224338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72575" y="1432454"/>
            <a:ext cx="4224338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172575" y="1432454"/>
            <a:ext cx="33867" cy="8168746"/>
          </a:xfrm>
          <a:prstGeom prst="rect">
            <a:avLst/>
          </a:prstGeom>
          <a:solidFill>
            <a:srgbClr val="8810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3388446" y="1432454"/>
            <a:ext cx="9525" cy="8168746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140976" y="2011955"/>
            <a:ext cx="3993520" cy="2608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4800" dirty="0">
                <a:solidFill>
                  <a:srgbClr val="FF9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3</a:t>
            </a:r>
            <a:endParaRPr lang="en-US" sz="4800" dirty="0"/>
          </a:p>
        </p:txBody>
      </p:sp>
      <p:sp>
        <p:nvSpPr>
          <p:cNvPr id="26" name="Text 24"/>
          <p:cNvSpPr/>
          <p:nvPr/>
        </p:nvSpPr>
        <p:spPr>
          <a:xfrm>
            <a:off x="9674604" y="3372843"/>
            <a:ext cx="3993520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Training &amp; Results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220729" y="4668128"/>
            <a:ext cx="4153429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2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&amp; pipeline</a:t>
            </a:r>
            <a:endParaRPr lang="en-US" sz="2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2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</a:t>
            </a:r>
            <a:endParaRPr lang="en-US" sz="2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2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results</a:t>
            </a:r>
            <a:endParaRPr lang="en-US" sz="2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2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comparisons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13454063" y="1432454"/>
            <a:ext cx="4224338" cy="8168746"/>
          </a:xfrm>
          <a:prstGeom prst="roundRect">
            <a:avLst>
              <a:gd name="adj" fmla="val 3157"/>
            </a:avLst>
          </a:prstGeom>
          <a:solidFill>
            <a:srgbClr val="1113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3454063" y="9592734"/>
            <a:ext cx="4224338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3454063" y="1432454"/>
            <a:ext cx="4224338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3454063" y="1432454"/>
            <a:ext cx="33867" cy="8168746"/>
          </a:xfrm>
          <a:prstGeom prst="rect">
            <a:avLst/>
          </a:prstGeom>
          <a:solidFill>
            <a:srgbClr val="A172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7669933" y="1432454"/>
            <a:ext cx="9525" cy="8168746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4647623" y="2029186"/>
            <a:ext cx="3993520" cy="2608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4800" dirty="0">
                <a:solidFill>
                  <a:srgbClr val="FFFB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4</a:t>
            </a:r>
            <a:endParaRPr lang="en-US" sz="4800" dirty="0"/>
          </a:p>
        </p:txBody>
      </p:sp>
      <p:sp>
        <p:nvSpPr>
          <p:cNvPr id="34" name="Text 32"/>
          <p:cNvSpPr/>
          <p:nvPr/>
        </p:nvSpPr>
        <p:spPr>
          <a:xfrm>
            <a:off x="14011379" y="3338654"/>
            <a:ext cx="3993520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&amp; Conclusion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3496461" y="4654148"/>
            <a:ext cx="4153429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2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&amp; complexity</a:t>
            </a:r>
            <a:endParaRPr lang="en-US" sz="2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2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2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2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22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2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directions</a:t>
            </a:r>
            <a:endParaRPr lang="en-US" sz="2250" dirty="0"/>
          </a:p>
        </p:txBody>
      </p:sp>
      <p:sp>
        <p:nvSpPr>
          <p:cNvPr id="36" name="Shape 34"/>
          <p:cNvSpPr/>
          <p:nvPr/>
        </p:nvSpPr>
        <p:spPr>
          <a:xfrm>
            <a:off x="595841" y="9619679"/>
            <a:ext cx="4229629" cy="45719"/>
          </a:xfrm>
          <a:prstGeom prst="roundRect">
            <a:avLst>
              <a:gd name="adj" fmla="val 50000"/>
            </a:avLst>
          </a:prstGeom>
          <a:solidFill>
            <a:srgbClr val="2B1D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87872" y="9589389"/>
            <a:ext cx="4157110" cy="76009"/>
          </a:xfrm>
          <a:prstGeom prst="rect">
            <a:avLst/>
          </a:prstGeom>
          <a:solidFill>
            <a:srgbClr val="32B8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169867" y="9563099"/>
            <a:ext cx="4148136" cy="68772"/>
          </a:xfrm>
          <a:prstGeom prst="rect">
            <a:avLst/>
          </a:prstGeom>
          <a:solidFill>
            <a:srgbClr val="7E0F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 flipV="1">
            <a:off x="13470996" y="9571293"/>
            <a:ext cx="4221162" cy="45719"/>
          </a:xfrm>
          <a:prstGeom prst="rect">
            <a:avLst/>
          </a:prstGeom>
          <a:solidFill>
            <a:srgbClr val="996D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0" y="0"/>
            <a:ext cx="1219200" cy="57150"/>
          </a:xfrm>
          <a:prstGeom prst="rect">
            <a:avLst/>
          </a:prstGeom>
          <a:solidFill>
            <a:srgbClr val="2B1D8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6962040" y="9730317"/>
            <a:ext cx="944959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b="1" kern="0" spc="15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33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0" y="0"/>
            <a:ext cx="1075664" cy="57150"/>
          </a:xfrm>
          <a:prstGeom prst="rect">
            <a:avLst/>
          </a:prstGeom>
          <a:solidFill>
            <a:srgbClr val="2B1D8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6962040" y="9730317"/>
            <a:ext cx="944959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5808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kern="0" spc="150" dirty="0">
                <a:solidFill>
                  <a:srgbClr val="927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600" y="703759"/>
            <a:ext cx="17580864" cy="708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Image Denoising Problem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600" y="1413403"/>
            <a:ext cx="8505825" cy="3132404"/>
          </a:xfrm>
          <a:prstGeom prst="roundRect">
            <a:avLst>
              <a:gd name="adj" fmla="val 7592"/>
            </a:avLst>
          </a:prstGeom>
          <a:solidFill>
            <a:srgbClr val="2B1D80">
              <a:alpha val="12000"/>
            </a:srgbClr>
          </a:solidFill>
          <a:ln w="8467">
            <a:solidFill>
              <a:srgbClr val="2A1C7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67327" y="1727433"/>
            <a:ext cx="8390371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5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Degradation Model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789517" y="2511043"/>
            <a:ext cx="8145992" cy="715433"/>
          </a:xfrm>
          <a:prstGeom prst="roundRect">
            <a:avLst>
              <a:gd name="adj" fmla="val 13314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2493" y="2644717"/>
            <a:ext cx="7840038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000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x + v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834217" y="3587718"/>
            <a:ext cx="1041929" cy="434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250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</a:t>
            </a:r>
            <a:r>
              <a:rPr lang="en-US" sz="22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Noisy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4028546" y="3587718"/>
            <a:ext cx="1073944" cy="434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250" dirty="0">
                <a:solidFill>
                  <a:srgbClr val="927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</a:t>
            </a:r>
            <a:r>
              <a:rPr lang="en-US" sz="22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180336" y="3538714"/>
            <a:ext cx="1840854" cy="588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250" dirty="0">
                <a:solidFill>
                  <a:srgbClr val="FF9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</a:t>
            </a:r>
            <a:r>
              <a:rPr lang="en-US" sz="200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AWGN</a:t>
            </a:r>
            <a:r>
              <a:rPr lang="en-US" sz="22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(σ)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609600" y="4707729"/>
            <a:ext cx="8505825" cy="4509424"/>
          </a:xfrm>
          <a:prstGeom prst="roundRect">
            <a:avLst>
              <a:gd name="adj" fmla="val 2371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25054" y="5302515"/>
            <a:ext cx="839037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48379" y="6206480"/>
            <a:ext cx="8448887" cy="244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imaging — MRI, CT scans</a:t>
            </a:r>
            <a:endParaRPr lang="en-US" sz="25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&amp; remote sensing imagery</a:t>
            </a:r>
            <a:endParaRPr lang="en-US" sz="25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Surveillance &amp; security systems</a:t>
            </a:r>
            <a:endParaRPr lang="en-US" sz="25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Smartphone &amp; consumer photography</a:t>
            </a:r>
            <a:endParaRPr lang="en-US" sz="25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for higher-level vision tasks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172575" y="1413404"/>
            <a:ext cx="8522758" cy="5816336"/>
          </a:xfrm>
          <a:prstGeom prst="roundRect">
            <a:avLst>
              <a:gd name="adj" fmla="val 1965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2575" y="1413404"/>
            <a:ext cx="8522758" cy="5816336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9172575" y="7286890"/>
            <a:ext cx="8505825" cy="1953022"/>
          </a:xfrm>
          <a:prstGeom prst="roundRect">
            <a:avLst>
              <a:gd name="adj" fmla="val 9704"/>
            </a:avLst>
          </a:prstGeom>
          <a:solidFill>
            <a:srgbClr val="11131D"/>
          </a:solidFill>
          <a:ln w="8467">
            <a:solidFill>
              <a:srgbClr val="88103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333442" y="7409656"/>
            <a:ext cx="8429614" cy="3104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50" b="1" kern="0" spc="150" dirty="0">
                <a:solidFill>
                  <a:srgbClr val="FF9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INSIGHT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9333442" y="8073713"/>
            <a:ext cx="8429614" cy="856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Denoising is </a:t>
            </a:r>
            <a:r>
              <a:rPr lang="en-US" sz="2550" b="1" dirty="0">
                <a:solidFill>
                  <a:srgbClr val="FF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ill-posed </a:t>
            </a: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infinitely many clean images could produce the same noisy observation.</a:t>
            </a:r>
            <a:endParaRPr lang="en-US" sz="2550" dirty="0"/>
          </a:p>
        </p:txBody>
      </p:sp>
      <p:sp>
        <p:nvSpPr>
          <p:cNvPr id="19" name="Shape 16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0" y="0"/>
            <a:ext cx="1828800" cy="57150"/>
          </a:xfrm>
          <a:prstGeom prst="rect">
            <a:avLst/>
          </a:prstGeom>
          <a:solidFill>
            <a:srgbClr val="2B1D8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6962040" y="9730317"/>
            <a:ext cx="944959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b="1" kern="0" spc="15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33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12002558" y="190500"/>
            <a:ext cx="887545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927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12861528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1297688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15128610" y="203200"/>
            <a:ext cx="54954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  <p:sp>
        <p:nvSpPr>
          <p:cNvPr id="33" name="Shape 3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0" y="0"/>
            <a:ext cx="1613562" cy="57150"/>
          </a:xfrm>
          <a:prstGeom prst="rect">
            <a:avLst/>
          </a:prstGeom>
          <a:solidFill>
            <a:srgbClr val="2B1D8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16962040" y="9730317"/>
            <a:ext cx="944959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12002558" y="190500"/>
            <a:ext cx="887545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927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37" name="Text 34"/>
          <p:cNvSpPr/>
          <p:nvPr/>
        </p:nvSpPr>
        <p:spPr>
          <a:xfrm>
            <a:off x="12861528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1297688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41" name="Text 38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2" name="Text 39"/>
          <p:cNvSpPr/>
          <p:nvPr/>
        </p:nvSpPr>
        <p:spPr>
          <a:xfrm>
            <a:off x="15128610" y="203200"/>
            <a:ext cx="54954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43" name="Text 40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4" name="Text 41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45" name="Text 42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6" name="Text 43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9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5808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kern="0" spc="150" dirty="0">
                <a:solidFill>
                  <a:srgbClr val="927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17580864" cy="708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Gap &amp; Motivation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72984" y="2181680"/>
            <a:ext cx="87610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FF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of Existing Methods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609600" y="2685711"/>
            <a:ext cx="8505825" cy="1413933"/>
          </a:xfrm>
          <a:prstGeom prst="roundRect">
            <a:avLst>
              <a:gd name="adj" fmla="val 9431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67" y="3211702"/>
            <a:ext cx="287999" cy="3619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54179" y="3050646"/>
            <a:ext cx="8054490" cy="1206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Cost </a:t>
            </a:r>
            <a:r>
              <a:rPr lang="en-US" sz="25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BM3D, WNNM: complex test-time optimization — minutes per image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9600" y="4175844"/>
            <a:ext cx="8505825" cy="1413933"/>
          </a:xfrm>
          <a:prstGeom prst="roundRect">
            <a:avLst>
              <a:gd name="adj" fmla="val 9431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467" y="4701836"/>
            <a:ext cx="276886" cy="3619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48457" y="4467225"/>
            <a:ext cx="8065935" cy="1206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Noise-Specific Models </a:t>
            </a:r>
            <a:r>
              <a:rPr lang="en-US" sz="25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CSF, TNRD, MLP: separate model per noise level — no blind denoising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09600" y="5665977"/>
            <a:ext cx="8505825" cy="1413933"/>
          </a:xfrm>
          <a:prstGeom prst="roundRect">
            <a:avLst>
              <a:gd name="adj" fmla="val 9431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467" y="6191969"/>
            <a:ext cx="344620" cy="3619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75954" y="5950669"/>
            <a:ext cx="7996170" cy="1206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Priors </a:t>
            </a:r>
            <a:r>
              <a:rPr lang="en-US" sz="25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Analysis-model priors cannot capture full image structure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9172575" y="2023004"/>
            <a:ext cx="87610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Questions</a:t>
            </a:r>
            <a:endParaRPr lang="en-US" sz="2250" dirty="0"/>
          </a:p>
        </p:txBody>
      </p:sp>
      <p:sp>
        <p:nvSpPr>
          <p:cNvPr id="15" name="Shape 10"/>
          <p:cNvSpPr/>
          <p:nvPr/>
        </p:nvSpPr>
        <p:spPr>
          <a:xfrm>
            <a:off x="9172575" y="2465917"/>
            <a:ext cx="8505825" cy="1153848"/>
          </a:xfrm>
          <a:prstGeom prst="roundRect">
            <a:avLst>
              <a:gd name="adj" fmla="val 11557"/>
            </a:avLst>
          </a:prstGeom>
          <a:solidFill>
            <a:srgbClr val="2B1D80">
              <a:alpha val="12000"/>
            </a:srgbClr>
          </a:solidFill>
          <a:ln w="8467">
            <a:solidFill>
              <a:srgbClr val="2A1C7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9333442" y="2686219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32B8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9295342" y="2686219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9695392" y="2588683"/>
            <a:ext cx="8056806" cy="946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deep CNN with </a:t>
            </a:r>
            <a:r>
              <a:rPr lang="en-US" sz="2700" b="1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learning </a:t>
            </a: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en-US" sz="2700" b="1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normalization </a:t>
            </a: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 superior denoising?</a:t>
            </a:r>
            <a:endParaRPr lang="en-US" sz="2700" dirty="0"/>
          </a:p>
        </p:txBody>
      </p:sp>
      <p:sp>
        <p:nvSpPr>
          <p:cNvPr id="19" name="Shape 14"/>
          <p:cNvSpPr/>
          <p:nvPr/>
        </p:nvSpPr>
        <p:spPr>
          <a:xfrm>
            <a:off x="9172575" y="3695965"/>
            <a:ext cx="8505825" cy="1145381"/>
          </a:xfrm>
          <a:prstGeom prst="roundRect">
            <a:avLst>
              <a:gd name="adj" fmla="val 11642"/>
            </a:avLst>
          </a:prstGeom>
          <a:solidFill>
            <a:srgbClr val="2B1D80">
              <a:alpha val="12000"/>
            </a:srgbClr>
          </a:solidFill>
          <a:ln w="8467">
            <a:solidFill>
              <a:srgbClr val="2A1C7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333442" y="3928459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32B8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9295342" y="3916267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9695392" y="3818731"/>
            <a:ext cx="8056806" cy="937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</a:t>
            </a:r>
            <a:r>
              <a:rPr lang="en-US" sz="2700" b="1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model </a:t>
            </a: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unknown noise levels (blind denoising)?</a:t>
            </a:r>
            <a:endParaRPr lang="en-US" sz="2700" dirty="0"/>
          </a:p>
        </p:txBody>
      </p:sp>
      <p:sp>
        <p:nvSpPr>
          <p:cNvPr id="23" name="Shape 18"/>
          <p:cNvSpPr/>
          <p:nvPr/>
        </p:nvSpPr>
        <p:spPr>
          <a:xfrm>
            <a:off x="9172575" y="4917546"/>
            <a:ext cx="8505825" cy="1145381"/>
          </a:xfrm>
          <a:prstGeom prst="roundRect">
            <a:avLst>
              <a:gd name="adj" fmla="val 11642"/>
            </a:avLst>
          </a:prstGeom>
          <a:solidFill>
            <a:srgbClr val="2B1D80">
              <a:alpha val="12000"/>
            </a:srgbClr>
          </a:solidFill>
          <a:ln w="8467">
            <a:solidFill>
              <a:srgbClr val="2A1C7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9333442" y="515004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32B8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9295342" y="5137848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50" dirty="0"/>
          </a:p>
        </p:txBody>
      </p:sp>
      <p:sp>
        <p:nvSpPr>
          <p:cNvPr id="26" name="Text 21"/>
          <p:cNvSpPr/>
          <p:nvPr/>
        </p:nvSpPr>
        <p:spPr>
          <a:xfrm>
            <a:off x="9695392" y="5040312"/>
            <a:ext cx="8056806" cy="937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</a:t>
            </a:r>
            <a:r>
              <a:rPr lang="en-US" sz="2700" b="1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network </a:t>
            </a: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denoising, SR, and JPEG deblocking?</a:t>
            </a:r>
            <a:endParaRPr lang="en-US" sz="2700" dirty="0"/>
          </a:p>
        </p:txBody>
      </p:sp>
      <p:sp>
        <p:nvSpPr>
          <p:cNvPr id="27" name="Shape 22"/>
          <p:cNvSpPr/>
          <p:nvPr/>
        </p:nvSpPr>
        <p:spPr>
          <a:xfrm>
            <a:off x="9172575" y="6139127"/>
            <a:ext cx="8505825" cy="1145381"/>
          </a:xfrm>
          <a:prstGeom prst="roundRect">
            <a:avLst>
              <a:gd name="adj" fmla="val 11642"/>
            </a:avLst>
          </a:prstGeom>
          <a:solidFill>
            <a:srgbClr val="2B1D80">
              <a:alpha val="12000"/>
            </a:srgbClr>
          </a:solidFill>
          <a:ln w="8467">
            <a:solidFill>
              <a:srgbClr val="2A1C7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9333442" y="6371578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32B8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9295342" y="6352528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50" dirty="0"/>
          </a:p>
        </p:txBody>
      </p:sp>
      <p:sp>
        <p:nvSpPr>
          <p:cNvPr id="30" name="Text 25"/>
          <p:cNvSpPr/>
          <p:nvPr/>
        </p:nvSpPr>
        <p:spPr>
          <a:xfrm>
            <a:off x="9695392" y="6261894"/>
            <a:ext cx="8056806" cy="937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RL and BN </a:t>
            </a:r>
            <a:r>
              <a:rPr lang="en-US" sz="2700" b="1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mutually benefit </a:t>
            </a: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other for Gaussian denoising?</a:t>
            </a:r>
            <a:endParaRPr lang="en-US" sz="2700" dirty="0"/>
          </a:p>
        </p:txBody>
      </p:sp>
      <p:sp>
        <p:nvSpPr>
          <p:cNvPr id="31" name="Shape 26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0" y="0"/>
            <a:ext cx="2438268" cy="57150"/>
          </a:xfrm>
          <a:prstGeom prst="rect">
            <a:avLst/>
          </a:prstGeom>
          <a:solidFill>
            <a:srgbClr val="2B1D8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16962040" y="9730317"/>
            <a:ext cx="944959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b="1" kern="0" spc="15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33</a:t>
            </a:r>
            <a:endParaRPr lang="en-US" sz="1650" dirty="0"/>
          </a:p>
        </p:txBody>
      </p:sp>
      <p:sp>
        <p:nvSpPr>
          <p:cNvPr id="34" name="Text 29"/>
          <p:cNvSpPr/>
          <p:nvPr/>
        </p:nvSpPr>
        <p:spPr>
          <a:xfrm>
            <a:off x="12002558" y="190500"/>
            <a:ext cx="887545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927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35" name="Text 30"/>
          <p:cNvSpPr/>
          <p:nvPr/>
        </p:nvSpPr>
        <p:spPr>
          <a:xfrm>
            <a:off x="12861528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6" name="Text 31"/>
          <p:cNvSpPr/>
          <p:nvPr/>
        </p:nvSpPr>
        <p:spPr>
          <a:xfrm>
            <a:off x="1297688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37" name="Text 32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8" name="Text 33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39" name="Text 34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0" name="Text 35"/>
          <p:cNvSpPr/>
          <p:nvPr/>
        </p:nvSpPr>
        <p:spPr>
          <a:xfrm>
            <a:off x="15128610" y="203200"/>
            <a:ext cx="54954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41" name="Text 36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2" name="Text 37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43" name="Text 38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4" name="Text 39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  <p:sp>
        <p:nvSpPr>
          <p:cNvPr id="45" name="Shape 4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1"/>
          <p:cNvSpPr/>
          <p:nvPr/>
        </p:nvSpPr>
        <p:spPr>
          <a:xfrm>
            <a:off x="0" y="0"/>
            <a:ext cx="2151459" cy="57150"/>
          </a:xfrm>
          <a:prstGeom prst="rect">
            <a:avLst/>
          </a:prstGeom>
          <a:solidFill>
            <a:srgbClr val="2B1D8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2"/>
          <p:cNvSpPr/>
          <p:nvPr/>
        </p:nvSpPr>
        <p:spPr>
          <a:xfrm>
            <a:off x="16962040" y="9730317"/>
            <a:ext cx="944959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650" dirty="0"/>
          </a:p>
        </p:txBody>
      </p:sp>
      <p:sp>
        <p:nvSpPr>
          <p:cNvPr id="48" name="Text 43"/>
          <p:cNvSpPr/>
          <p:nvPr/>
        </p:nvSpPr>
        <p:spPr>
          <a:xfrm>
            <a:off x="12002558" y="190500"/>
            <a:ext cx="887545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927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49" name="Text 44"/>
          <p:cNvSpPr/>
          <p:nvPr/>
        </p:nvSpPr>
        <p:spPr>
          <a:xfrm>
            <a:off x="12861528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0" name="Text 45"/>
          <p:cNvSpPr/>
          <p:nvPr/>
        </p:nvSpPr>
        <p:spPr>
          <a:xfrm>
            <a:off x="1297688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51" name="Text 46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2" name="Text 47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53" name="Text 48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4" name="Text 49"/>
          <p:cNvSpPr/>
          <p:nvPr/>
        </p:nvSpPr>
        <p:spPr>
          <a:xfrm>
            <a:off x="15128610" y="203200"/>
            <a:ext cx="54954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55" name="Text 50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6" name="Text 51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57" name="Text 52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8" name="Text 53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  <p:sp>
        <p:nvSpPr>
          <p:cNvPr id="59" name="Shape 11">
            <a:extLst>
              <a:ext uri="{FF2B5EF4-FFF2-40B4-BE49-F238E27FC236}">
                <a16:creationId xmlns:a16="http://schemas.microsoft.com/office/drawing/2014/main" id="{EDD7F8BE-13D0-A68F-AEEA-A7E44DBF7DB4}"/>
              </a:ext>
            </a:extLst>
          </p:cNvPr>
          <p:cNvSpPr/>
          <p:nvPr/>
        </p:nvSpPr>
        <p:spPr>
          <a:xfrm>
            <a:off x="714910" y="7640107"/>
            <a:ext cx="16776192" cy="1929342"/>
          </a:xfrm>
          <a:prstGeom prst="roundRect">
            <a:avLst>
              <a:gd name="adj" fmla="val 6912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12">
            <a:extLst>
              <a:ext uri="{FF2B5EF4-FFF2-40B4-BE49-F238E27FC236}">
                <a16:creationId xmlns:a16="http://schemas.microsoft.com/office/drawing/2014/main" id="{4DC0E6DF-A8DC-B7DC-A92C-1B1D91799872}"/>
              </a:ext>
            </a:extLst>
          </p:cNvPr>
          <p:cNvSpPr/>
          <p:nvPr/>
        </p:nvSpPr>
        <p:spPr>
          <a:xfrm>
            <a:off x="875777" y="8100482"/>
            <a:ext cx="742950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FF9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WNNM</a:t>
            </a:r>
            <a:endParaRPr lang="en-US" sz="1650" dirty="0"/>
          </a:p>
        </p:txBody>
      </p:sp>
      <p:sp>
        <p:nvSpPr>
          <p:cNvPr id="61" name="Shape 13">
            <a:extLst>
              <a:ext uri="{FF2B5EF4-FFF2-40B4-BE49-F238E27FC236}">
                <a16:creationId xmlns:a16="http://schemas.microsoft.com/office/drawing/2014/main" id="{118FBF33-3B60-72EC-5E18-6F139461E159}"/>
              </a:ext>
            </a:extLst>
          </p:cNvPr>
          <p:cNvSpPr/>
          <p:nvPr/>
        </p:nvSpPr>
        <p:spPr>
          <a:xfrm>
            <a:off x="1694927" y="8047566"/>
            <a:ext cx="13870517" cy="342900"/>
          </a:xfrm>
          <a:prstGeom prst="roundRect">
            <a:avLst>
              <a:gd name="adj" fmla="val 16667"/>
            </a:avLst>
          </a:prstGeom>
          <a:solidFill>
            <a:srgbClr val="1113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14">
            <a:extLst>
              <a:ext uri="{FF2B5EF4-FFF2-40B4-BE49-F238E27FC236}">
                <a16:creationId xmlns:a16="http://schemas.microsoft.com/office/drawing/2014/main" id="{356193AC-EAD9-2169-7C6D-6768757B8ECC}"/>
              </a:ext>
            </a:extLst>
          </p:cNvPr>
          <p:cNvSpPr/>
          <p:nvPr/>
        </p:nvSpPr>
        <p:spPr>
          <a:xfrm>
            <a:off x="1694927" y="8047566"/>
            <a:ext cx="13965767" cy="342900"/>
          </a:xfrm>
          <a:prstGeom prst="roundRect">
            <a:avLst>
              <a:gd name="adj" fmla="val 16667"/>
            </a:avLst>
          </a:prstGeom>
          <a:solidFill>
            <a:srgbClr val="7E0F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15">
            <a:extLst>
              <a:ext uri="{FF2B5EF4-FFF2-40B4-BE49-F238E27FC236}">
                <a16:creationId xmlns:a16="http://schemas.microsoft.com/office/drawing/2014/main" id="{4FA1C58D-BDE1-86B8-4D68-E7260569AE38}"/>
              </a:ext>
            </a:extLst>
          </p:cNvPr>
          <p:cNvSpPr/>
          <p:nvPr/>
        </p:nvSpPr>
        <p:spPr>
          <a:xfrm>
            <a:off x="1275954" y="8047566"/>
            <a:ext cx="142894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FFFF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773s</a:t>
            </a:r>
            <a:endParaRPr lang="en-US" sz="1650" dirty="0"/>
          </a:p>
        </p:txBody>
      </p:sp>
      <p:sp>
        <p:nvSpPr>
          <p:cNvPr id="64" name="Text 16">
            <a:extLst>
              <a:ext uri="{FF2B5EF4-FFF2-40B4-BE49-F238E27FC236}">
                <a16:creationId xmlns:a16="http://schemas.microsoft.com/office/drawing/2014/main" id="{44351B1E-C3F1-ED38-0D6D-10DC2A466169}"/>
              </a:ext>
            </a:extLst>
          </p:cNvPr>
          <p:cNvSpPr/>
          <p:nvPr/>
        </p:nvSpPr>
        <p:spPr>
          <a:xfrm>
            <a:off x="875777" y="8471957"/>
            <a:ext cx="742950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FFF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BM3D</a:t>
            </a:r>
            <a:endParaRPr lang="en-US" sz="1650" dirty="0"/>
          </a:p>
        </p:txBody>
      </p:sp>
      <p:sp>
        <p:nvSpPr>
          <p:cNvPr id="65" name="Shape 17">
            <a:extLst>
              <a:ext uri="{FF2B5EF4-FFF2-40B4-BE49-F238E27FC236}">
                <a16:creationId xmlns:a16="http://schemas.microsoft.com/office/drawing/2014/main" id="{6CE09894-AE04-60DD-0389-FECF869E50A5}"/>
              </a:ext>
            </a:extLst>
          </p:cNvPr>
          <p:cNvSpPr/>
          <p:nvPr/>
        </p:nvSpPr>
        <p:spPr>
          <a:xfrm>
            <a:off x="1694927" y="8419041"/>
            <a:ext cx="13870517" cy="342900"/>
          </a:xfrm>
          <a:prstGeom prst="roundRect">
            <a:avLst>
              <a:gd name="adj" fmla="val 16667"/>
            </a:avLst>
          </a:prstGeom>
          <a:solidFill>
            <a:srgbClr val="1113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18">
            <a:extLst>
              <a:ext uri="{FF2B5EF4-FFF2-40B4-BE49-F238E27FC236}">
                <a16:creationId xmlns:a16="http://schemas.microsoft.com/office/drawing/2014/main" id="{FB407A86-6BE2-642A-DB7B-2CAA78CC38E2}"/>
              </a:ext>
            </a:extLst>
          </p:cNvPr>
          <p:cNvSpPr/>
          <p:nvPr/>
        </p:nvSpPr>
        <p:spPr>
          <a:xfrm>
            <a:off x="1694927" y="8419041"/>
            <a:ext cx="1759611" cy="342900"/>
          </a:xfrm>
          <a:prstGeom prst="roundRect">
            <a:avLst>
              <a:gd name="adj" fmla="val 16667"/>
            </a:avLst>
          </a:prstGeom>
          <a:solidFill>
            <a:srgbClr val="2B1D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19">
            <a:extLst>
              <a:ext uri="{FF2B5EF4-FFF2-40B4-BE49-F238E27FC236}">
                <a16:creationId xmlns:a16="http://schemas.microsoft.com/office/drawing/2014/main" id="{4B93B44B-6E2A-ADB0-6593-9194DD10ACB3}"/>
              </a:ext>
            </a:extLst>
          </p:cNvPr>
          <p:cNvSpPr/>
          <p:nvPr/>
        </p:nvSpPr>
        <p:spPr>
          <a:xfrm>
            <a:off x="1618727" y="8419041"/>
            <a:ext cx="174056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FFFF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2.85s</a:t>
            </a:r>
            <a:endParaRPr lang="en-US" sz="1650" dirty="0"/>
          </a:p>
        </p:txBody>
      </p:sp>
      <p:sp>
        <p:nvSpPr>
          <p:cNvPr id="68" name="Text 20">
            <a:extLst>
              <a:ext uri="{FF2B5EF4-FFF2-40B4-BE49-F238E27FC236}">
                <a16:creationId xmlns:a16="http://schemas.microsoft.com/office/drawing/2014/main" id="{2F6EB718-F6CB-ADF7-1DFD-B16201A064A1}"/>
              </a:ext>
            </a:extLst>
          </p:cNvPr>
          <p:cNvSpPr/>
          <p:nvPr/>
        </p:nvSpPr>
        <p:spPr>
          <a:xfrm>
            <a:off x="875777" y="8843432"/>
            <a:ext cx="742950" cy="275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DnCNN</a:t>
            </a:r>
            <a:endParaRPr lang="en-US" sz="1650" dirty="0"/>
          </a:p>
        </p:txBody>
      </p:sp>
      <p:sp>
        <p:nvSpPr>
          <p:cNvPr id="69" name="Shape 21">
            <a:extLst>
              <a:ext uri="{FF2B5EF4-FFF2-40B4-BE49-F238E27FC236}">
                <a16:creationId xmlns:a16="http://schemas.microsoft.com/office/drawing/2014/main" id="{FEA59D41-9AE6-DFD0-F52F-F27FC6289906}"/>
              </a:ext>
            </a:extLst>
          </p:cNvPr>
          <p:cNvSpPr/>
          <p:nvPr/>
        </p:nvSpPr>
        <p:spPr>
          <a:xfrm>
            <a:off x="1694927" y="8790516"/>
            <a:ext cx="13870517" cy="342900"/>
          </a:xfrm>
          <a:prstGeom prst="roundRect">
            <a:avLst>
              <a:gd name="adj" fmla="val 16667"/>
            </a:avLst>
          </a:prstGeom>
          <a:solidFill>
            <a:srgbClr val="1113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22">
            <a:extLst>
              <a:ext uri="{FF2B5EF4-FFF2-40B4-BE49-F238E27FC236}">
                <a16:creationId xmlns:a16="http://schemas.microsoft.com/office/drawing/2014/main" id="{24F42B33-FD49-AA6C-E875-B7E3C4D2EE1D}"/>
              </a:ext>
            </a:extLst>
          </p:cNvPr>
          <p:cNvSpPr/>
          <p:nvPr/>
        </p:nvSpPr>
        <p:spPr>
          <a:xfrm>
            <a:off x="1694927" y="8790516"/>
            <a:ext cx="666750" cy="342900"/>
          </a:xfrm>
          <a:prstGeom prst="roundRect">
            <a:avLst>
              <a:gd name="adj" fmla="val 16667"/>
            </a:avLst>
          </a:prstGeom>
          <a:solidFill>
            <a:srgbClr val="32B8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23">
            <a:extLst>
              <a:ext uri="{FF2B5EF4-FFF2-40B4-BE49-F238E27FC236}">
                <a16:creationId xmlns:a16="http://schemas.microsoft.com/office/drawing/2014/main" id="{10C0B1DE-D32A-E3DD-0121-BA1A49B09F6F}"/>
              </a:ext>
            </a:extLst>
          </p:cNvPr>
          <p:cNvSpPr/>
          <p:nvPr/>
        </p:nvSpPr>
        <p:spPr>
          <a:xfrm>
            <a:off x="1618727" y="8790516"/>
            <a:ext cx="6477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FFFF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0.06s</a:t>
            </a:r>
            <a:endParaRPr lang="en-US" sz="1650" dirty="0"/>
          </a:p>
        </p:txBody>
      </p:sp>
      <p:sp>
        <p:nvSpPr>
          <p:cNvPr id="72" name="Text 24">
            <a:extLst>
              <a:ext uri="{FF2B5EF4-FFF2-40B4-BE49-F238E27FC236}">
                <a16:creationId xmlns:a16="http://schemas.microsoft.com/office/drawing/2014/main" id="{7E6D7AE8-B477-6683-11FD-1E404CC363A7}"/>
              </a:ext>
            </a:extLst>
          </p:cNvPr>
          <p:cNvSpPr/>
          <p:nvPr/>
        </p:nvSpPr>
        <p:spPr>
          <a:xfrm>
            <a:off x="15603543" y="7762874"/>
            <a:ext cx="1981200" cy="172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5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denoise a 512×512 image</a:t>
            </a:r>
            <a:endParaRPr lang="en-US" sz="2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5808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kern="0" spc="150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CLASSICAL METHODS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17580864" cy="708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Prior-Based Denoising Approaches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600" y="1413404"/>
            <a:ext cx="4224338" cy="8492596"/>
          </a:xfrm>
          <a:prstGeom prst="roundRect">
            <a:avLst>
              <a:gd name="adj" fmla="val 3157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0467" y="1536171"/>
            <a:ext cx="86174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BM3D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4097734" y="1565010"/>
            <a:ext cx="575336" cy="270933"/>
          </a:xfrm>
          <a:prstGeom prst="roundRect">
            <a:avLst>
              <a:gd name="adj" fmla="val 21094"/>
            </a:avLst>
          </a:prstGeom>
          <a:solidFill>
            <a:srgbClr val="2B1D80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92984" y="1603110"/>
            <a:ext cx="461036" cy="232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927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2007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67" y="3858978"/>
            <a:ext cx="3902604" cy="17073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9600" y="5661824"/>
            <a:ext cx="4019682" cy="88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5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Non-local similarity Collaborative filtering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770467" y="9461368"/>
            <a:ext cx="4019682" cy="35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RF: 49×49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4891088" y="1413404"/>
            <a:ext cx="4224338" cy="8492596"/>
          </a:xfrm>
          <a:prstGeom prst="roundRect">
            <a:avLst>
              <a:gd name="adj" fmla="val 3157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51954" y="1536171"/>
            <a:ext cx="100462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WNNM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8379222" y="1565010"/>
            <a:ext cx="575336" cy="270933"/>
          </a:xfrm>
          <a:prstGeom prst="roundRect">
            <a:avLst>
              <a:gd name="adj" fmla="val 21094"/>
            </a:avLst>
          </a:prstGeom>
          <a:solidFill>
            <a:srgbClr val="2B1D80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474472" y="1603110"/>
            <a:ext cx="461036" cy="232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927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2014</a:t>
            </a:r>
            <a:endParaRPr lang="en-US" sz="12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4804" y="3887527"/>
            <a:ext cx="3902604" cy="17073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51954" y="5661824"/>
            <a:ext cx="4019682" cy="88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5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Non-local + low-rank  Adaptive weights</a:t>
            </a:r>
            <a:endParaRPr lang="en-US" sz="2550" dirty="0"/>
          </a:p>
        </p:txBody>
      </p:sp>
      <p:sp>
        <p:nvSpPr>
          <p:cNvPr id="17" name="Text 13"/>
          <p:cNvSpPr/>
          <p:nvPr/>
        </p:nvSpPr>
        <p:spPr>
          <a:xfrm>
            <a:off x="5051954" y="9461368"/>
            <a:ext cx="4019682" cy="35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RF: 361×361</a:t>
            </a:r>
            <a:endParaRPr lang="en-US" sz="1950" dirty="0"/>
          </a:p>
        </p:txBody>
      </p:sp>
      <p:sp>
        <p:nvSpPr>
          <p:cNvPr id="18" name="Shape 14"/>
          <p:cNvSpPr/>
          <p:nvPr/>
        </p:nvSpPr>
        <p:spPr>
          <a:xfrm>
            <a:off x="9172575" y="1413404"/>
            <a:ext cx="4224338" cy="8492596"/>
          </a:xfrm>
          <a:prstGeom prst="roundRect">
            <a:avLst>
              <a:gd name="adj" fmla="val 3157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9333442" y="1536171"/>
            <a:ext cx="158101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CSF / TNRD</a:t>
            </a:r>
            <a:endParaRPr lang="en-US" sz="2250" dirty="0"/>
          </a:p>
        </p:txBody>
      </p:sp>
      <p:sp>
        <p:nvSpPr>
          <p:cNvPr id="20" name="Shape 16"/>
          <p:cNvSpPr/>
          <p:nvPr/>
        </p:nvSpPr>
        <p:spPr>
          <a:xfrm>
            <a:off x="12372049" y="1565010"/>
            <a:ext cx="863997" cy="270933"/>
          </a:xfrm>
          <a:prstGeom prst="roundRect">
            <a:avLst>
              <a:gd name="adj" fmla="val 21094"/>
            </a:avLst>
          </a:prstGeom>
          <a:solidFill>
            <a:srgbClr val="2B1D80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12467299" y="1603110"/>
            <a:ext cx="749697" cy="232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927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2014–16</a:t>
            </a:r>
            <a:endParaRPr lang="en-US" sz="12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3442" y="3860138"/>
            <a:ext cx="3902604" cy="17073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276292" y="5661824"/>
            <a:ext cx="4019682" cy="88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5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Unrolled optimization  Trainable params</a:t>
            </a:r>
            <a:endParaRPr lang="en-US" sz="2550" dirty="0"/>
          </a:p>
        </p:txBody>
      </p:sp>
      <p:sp>
        <p:nvSpPr>
          <p:cNvPr id="24" name="Text 19"/>
          <p:cNvSpPr/>
          <p:nvPr/>
        </p:nvSpPr>
        <p:spPr>
          <a:xfrm>
            <a:off x="9333442" y="9461368"/>
            <a:ext cx="4019682" cy="35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RF: 61×61</a:t>
            </a:r>
            <a:endParaRPr lang="en-US" sz="1950" dirty="0"/>
          </a:p>
        </p:txBody>
      </p:sp>
      <p:sp>
        <p:nvSpPr>
          <p:cNvPr id="25" name="Shape 20"/>
          <p:cNvSpPr/>
          <p:nvPr/>
        </p:nvSpPr>
        <p:spPr>
          <a:xfrm>
            <a:off x="13454063" y="1413404"/>
            <a:ext cx="4224338" cy="8492596"/>
          </a:xfrm>
          <a:prstGeom prst="roundRect">
            <a:avLst>
              <a:gd name="adj" fmla="val 3157"/>
            </a:avLst>
          </a:prstGeom>
          <a:solidFill>
            <a:srgbClr val="00CEC9">
              <a:alpha val="8000"/>
            </a:srgbClr>
          </a:solidFill>
          <a:ln w="8467">
            <a:solidFill>
              <a:srgbClr val="3CD8C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13614929" y="1536171"/>
            <a:ext cx="104748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50" b="1" dirty="0" err="1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DnCNN</a:t>
            </a:r>
            <a:endParaRPr lang="en-US" sz="2250" dirty="0"/>
          </a:p>
        </p:txBody>
      </p:sp>
      <p:sp>
        <p:nvSpPr>
          <p:cNvPr id="27" name="Shape 22"/>
          <p:cNvSpPr/>
          <p:nvPr/>
        </p:nvSpPr>
        <p:spPr>
          <a:xfrm>
            <a:off x="16942197" y="1565010"/>
            <a:ext cx="575336" cy="270933"/>
          </a:xfrm>
          <a:prstGeom prst="roundRect">
            <a:avLst>
              <a:gd name="adj" fmla="val 21094"/>
            </a:avLst>
          </a:prstGeom>
          <a:solidFill>
            <a:srgbClr val="32B8A9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17037447" y="1603110"/>
            <a:ext cx="461036" cy="232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2017</a:t>
            </a:r>
            <a:endParaRPr lang="en-US" sz="12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98273" y="3860229"/>
            <a:ext cx="3902604" cy="170735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3559300" y="5736172"/>
            <a:ext cx="4019682" cy="731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100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Feed-forward CNN · Single model  Blind</a:t>
            </a:r>
            <a:endParaRPr lang="en-US" sz="2100" dirty="0"/>
          </a:p>
        </p:txBody>
      </p:sp>
      <p:sp>
        <p:nvSpPr>
          <p:cNvPr id="31" name="Text 25"/>
          <p:cNvSpPr/>
          <p:nvPr/>
        </p:nvSpPr>
        <p:spPr>
          <a:xfrm>
            <a:off x="13614929" y="9461368"/>
            <a:ext cx="4019682" cy="35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RF: 35×35 ✦</a:t>
            </a:r>
            <a:endParaRPr lang="en-US" sz="1950" dirty="0"/>
          </a:p>
        </p:txBody>
      </p:sp>
      <p:sp>
        <p:nvSpPr>
          <p:cNvPr id="32" name="Shape 26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0" y="0"/>
            <a:ext cx="3048000" cy="57150"/>
          </a:xfrm>
          <a:prstGeom prst="rect">
            <a:avLst/>
          </a:prstGeom>
          <a:solidFill>
            <a:srgbClr val="2B1D8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16962040" y="9730317"/>
            <a:ext cx="944959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b="1" kern="0" spc="15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33</a:t>
            </a:r>
            <a:endParaRPr lang="en-US" sz="1650" dirty="0"/>
          </a:p>
        </p:txBody>
      </p:sp>
      <p:sp>
        <p:nvSpPr>
          <p:cNvPr id="35" name="Text 29"/>
          <p:cNvSpPr/>
          <p:nvPr/>
        </p:nvSpPr>
        <p:spPr>
          <a:xfrm>
            <a:off x="12002558" y="190500"/>
            <a:ext cx="887545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927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36" name="Text 30"/>
          <p:cNvSpPr/>
          <p:nvPr/>
        </p:nvSpPr>
        <p:spPr>
          <a:xfrm>
            <a:off x="12861528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7" name="Text 31"/>
          <p:cNvSpPr/>
          <p:nvPr/>
        </p:nvSpPr>
        <p:spPr>
          <a:xfrm>
            <a:off x="1297688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38" name="Text 32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9" name="Text 33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40" name="Text 34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1" name="Text 35"/>
          <p:cNvSpPr/>
          <p:nvPr/>
        </p:nvSpPr>
        <p:spPr>
          <a:xfrm>
            <a:off x="15128610" y="203200"/>
            <a:ext cx="54954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42" name="Text 36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3" name="Text 37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44" name="Text 38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5" name="Text 39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  <p:sp>
        <p:nvSpPr>
          <p:cNvPr id="46" name="Shape 4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1"/>
          <p:cNvSpPr/>
          <p:nvPr/>
        </p:nvSpPr>
        <p:spPr>
          <a:xfrm>
            <a:off x="0" y="0"/>
            <a:ext cx="2689357" cy="57150"/>
          </a:xfrm>
          <a:prstGeom prst="rect">
            <a:avLst/>
          </a:prstGeom>
          <a:solidFill>
            <a:srgbClr val="2B1D8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2"/>
          <p:cNvSpPr/>
          <p:nvPr/>
        </p:nvSpPr>
        <p:spPr>
          <a:xfrm>
            <a:off x="16962040" y="9730317"/>
            <a:ext cx="944959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650" dirty="0"/>
          </a:p>
        </p:txBody>
      </p:sp>
      <p:sp>
        <p:nvSpPr>
          <p:cNvPr id="49" name="Text 43"/>
          <p:cNvSpPr/>
          <p:nvPr/>
        </p:nvSpPr>
        <p:spPr>
          <a:xfrm>
            <a:off x="12002558" y="190500"/>
            <a:ext cx="887545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927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50" name="Text 44"/>
          <p:cNvSpPr/>
          <p:nvPr/>
        </p:nvSpPr>
        <p:spPr>
          <a:xfrm>
            <a:off x="12861528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1" name="Text 45"/>
          <p:cNvSpPr/>
          <p:nvPr/>
        </p:nvSpPr>
        <p:spPr>
          <a:xfrm>
            <a:off x="1297688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52" name="Text 46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3" name="Text 47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54" name="Text 48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5" name="Text 49"/>
          <p:cNvSpPr/>
          <p:nvPr/>
        </p:nvSpPr>
        <p:spPr>
          <a:xfrm>
            <a:off x="15128610" y="203200"/>
            <a:ext cx="54954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56" name="Text 50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7" name="Text 51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58" name="Text 52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9" name="Text 53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9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5808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kern="0" spc="150" dirty="0">
                <a:solidFill>
                  <a:srgbClr val="927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17580864" cy="708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Classical Priors to Learned Features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486834" y="3558804"/>
            <a:ext cx="8505825" cy="1816761"/>
          </a:xfrm>
          <a:prstGeom prst="roundRect">
            <a:avLst>
              <a:gd name="adj" fmla="val 8389"/>
            </a:avLst>
          </a:prstGeom>
          <a:solidFill>
            <a:srgbClr val="1113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86834" y="5367099"/>
            <a:ext cx="8505825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6834" y="3558804"/>
            <a:ext cx="8505825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86834" y="3558804"/>
            <a:ext cx="33867" cy="1816761"/>
          </a:xfrm>
          <a:prstGeom prst="rect">
            <a:avLst/>
          </a:prstGeom>
          <a:solidFill>
            <a:srgbClr val="8810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984192" y="3558804"/>
            <a:ext cx="9525" cy="1816761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92151" y="3738721"/>
            <a:ext cx="836420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FF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Bayesian View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692151" y="4181633"/>
            <a:ext cx="8120592" cy="635000"/>
          </a:xfrm>
          <a:prstGeom prst="roundRect">
            <a:avLst>
              <a:gd name="adj" fmla="val 15000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8358" y="4304400"/>
            <a:ext cx="7928176" cy="427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x̂ = argmin ½‖y − x‖² + λΦ(x)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692151" y="4873783"/>
            <a:ext cx="8364209" cy="35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fidelity + Regularization (explicit prior)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486834" y="5432716"/>
            <a:ext cx="8505825" cy="1825228"/>
          </a:xfrm>
          <a:prstGeom prst="roundRect">
            <a:avLst>
              <a:gd name="adj" fmla="val 8350"/>
            </a:avLst>
          </a:prstGeom>
          <a:solidFill>
            <a:srgbClr val="1113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6834" y="7249477"/>
            <a:ext cx="8505825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6834" y="5432716"/>
            <a:ext cx="8505825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6834" y="5432716"/>
            <a:ext cx="33867" cy="1825228"/>
          </a:xfrm>
          <a:prstGeom prst="rect">
            <a:avLst/>
          </a:prstGeom>
          <a:solidFill>
            <a:srgbClr val="3CD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984192" y="5432716"/>
            <a:ext cx="9525" cy="1825228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2151" y="5612632"/>
            <a:ext cx="836420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DnCNN: Learned Approach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692151" y="6055545"/>
            <a:ext cx="8120592" cy="643467"/>
          </a:xfrm>
          <a:prstGeom prst="roundRect">
            <a:avLst>
              <a:gd name="adj" fmla="val 14803"/>
            </a:avLst>
          </a:prstGeom>
          <a:solidFill>
            <a:srgbClr val="11131D"/>
          </a:solidFill>
          <a:ln w="8467">
            <a:solidFill>
              <a:srgbClr val="3CD8C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8358" y="6178311"/>
            <a:ext cx="7928176" cy="436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v̂ = ℛ(y; Θ) ⇒ x̂ = y − v̂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692151" y="6756162"/>
            <a:ext cx="8364209" cy="35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explicit prior — implicitly learned by CNN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171518" y="2101890"/>
            <a:ext cx="8505825" cy="6477722"/>
          </a:xfrm>
          <a:prstGeom prst="roundRect">
            <a:avLst>
              <a:gd name="adj" fmla="val 1792"/>
            </a:avLst>
          </a:prstGeom>
          <a:solidFill>
            <a:srgbClr val="2B1D80">
              <a:alpha val="12000"/>
            </a:srgbClr>
          </a:solidFill>
          <a:ln w="8467">
            <a:solidFill>
              <a:srgbClr val="2A1C7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286972" y="2491902"/>
            <a:ext cx="839037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Connection: DnCNN Generalizes TNRD</a:t>
            </a:r>
            <a:endParaRPr lang="en-US" sz="225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972" y="3010032"/>
            <a:ext cx="8145992" cy="4266935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9352492" y="7418667"/>
            <a:ext cx="8390371" cy="681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DnCNN parameters represent </a:t>
            </a:r>
            <a:r>
              <a:rPr lang="en-US" sz="195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image priors </a:t>
            </a:r>
            <a:r>
              <a:rPr lang="en-US" sz="19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analogous to the analysis prior in TNRD.</a:t>
            </a:r>
            <a:endParaRPr lang="en-US" sz="1950" dirty="0"/>
          </a:p>
        </p:txBody>
      </p:sp>
      <p:sp>
        <p:nvSpPr>
          <p:cNvPr id="26" name="Shape 23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0" y="0"/>
            <a:ext cx="4267068" cy="57150"/>
          </a:xfrm>
          <a:prstGeom prst="rect">
            <a:avLst/>
          </a:prstGeom>
          <a:solidFill>
            <a:srgbClr val="2B1D8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6962040" y="9730317"/>
            <a:ext cx="944959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b="1" kern="0" spc="15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33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2002558" y="190500"/>
            <a:ext cx="887545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927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12861528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1297688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15128610" y="203200"/>
            <a:ext cx="54954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36" name="Text 33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7" name="Text 34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  <p:sp>
        <p:nvSpPr>
          <p:cNvPr id="40" name="Shape 37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0" y="0"/>
            <a:ext cx="3765153" cy="57150"/>
          </a:xfrm>
          <a:prstGeom prst="rect">
            <a:avLst/>
          </a:prstGeom>
          <a:solidFill>
            <a:srgbClr val="2B1D8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16962040" y="9730317"/>
            <a:ext cx="944959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650" dirty="0"/>
          </a:p>
        </p:txBody>
      </p:sp>
      <p:sp>
        <p:nvSpPr>
          <p:cNvPr id="43" name="Text 40"/>
          <p:cNvSpPr/>
          <p:nvPr/>
        </p:nvSpPr>
        <p:spPr>
          <a:xfrm>
            <a:off x="12002558" y="190500"/>
            <a:ext cx="887545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927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44" name="Text 41"/>
          <p:cNvSpPr/>
          <p:nvPr/>
        </p:nvSpPr>
        <p:spPr>
          <a:xfrm>
            <a:off x="12861528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5" name="Text 42"/>
          <p:cNvSpPr/>
          <p:nvPr/>
        </p:nvSpPr>
        <p:spPr>
          <a:xfrm>
            <a:off x="1297688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46" name="Text 43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7" name="Text 44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48" name="Text 45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9" name="Text 46"/>
          <p:cNvSpPr/>
          <p:nvPr/>
        </p:nvSpPr>
        <p:spPr>
          <a:xfrm>
            <a:off x="15128610" y="203200"/>
            <a:ext cx="54954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50" name="Text 47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1" name="Text 48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52" name="Text 49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3" name="Text 50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b="5589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9" name="Text 37">
            <a:extLst>
              <a:ext uri="{FF2B5EF4-FFF2-40B4-BE49-F238E27FC236}">
                <a16:creationId xmlns:a16="http://schemas.microsoft.com/office/drawing/2014/main" id="{F39BFA10-C92F-9627-2B1D-BCE7D97CAD28}"/>
              </a:ext>
            </a:extLst>
          </p:cNvPr>
          <p:cNvSpPr/>
          <p:nvPr/>
        </p:nvSpPr>
        <p:spPr>
          <a:xfrm>
            <a:off x="16962040" y="9730317"/>
            <a:ext cx="944959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65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C15069C8-EEAA-8971-5407-CD5AF951808D}"/>
              </a:ext>
            </a:extLst>
          </p:cNvPr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b="1" kern="0" spc="15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33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9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5808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kern="0" spc="150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1758086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Architecture</a:t>
            </a:r>
            <a:endParaRPr lang="en-US" sz="4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" y="1895856"/>
            <a:ext cx="17068800" cy="1905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53568" y="3881289"/>
            <a:ext cx="17580864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100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 1 — DnCNN architecture [Zhang et al., 2017]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69738" y="4937072"/>
            <a:ext cx="8761000" cy="432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Decisions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569738" y="5512827"/>
            <a:ext cx="8475250" cy="588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</a:t>
            </a:r>
            <a:r>
              <a:rPr lang="en-US" sz="270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noise </a:t>
            </a: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v̂, not clean image — then x̂ = y − v̂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69737" y="6159691"/>
            <a:ext cx="8379191" cy="937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FF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pooling </a:t>
            </a: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preserves spatial resolution for pixel-level reconstruction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569738" y="7245467"/>
            <a:ext cx="8475250" cy="937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VGG principle: many small </a:t>
            </a:r>
            <a:r>
              <a:rPr lang="en-US" sz="2700" b="1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3×3 filters </a:t>
            </a: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more nonlinearities, fewer params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569738" y="8306859"/>
            <a:ext cx="8475250" cy="937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FFF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Normalization </a:t>
            </a: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middle layers stabilizes residual learning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9172575" y="5768843"/>
            <a:ext cx="4214813" cy="1150276"/>
          </a:xfrm>
          <a:prstGeom prst="roundRect">
            <a:avLst>
              <a:gd name="adj" fmla="val 11593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275046" y="5891610"/>
            <a:ext cx="4009872" cy="3104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50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FILTERS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9275046" y="6202098"/>
            <a:ext cx="4009872" cy="6323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3×3</a:t>
            </a:r>
            <a:endParaRPr lang="en-US" sz="3600" dirty="0"/>
          </a:p>
        </p:txBody>
      </p:sp>
      <p:sp>
        <p:nvSpPr>
          <p:cNvPr id="15" name="Shape 12"/>
          <p:cNvSpPr/>
          <p:nvPr/>
        </p:nvSpPr>
        <p:spPr>
          <a:xfrm>
            <a:off x="13463588" y="5768843"/>
            <a:ext cx="4214813" cy="1150276"/>
          </a:xfrm>
          <a:prstGeom prst="roundRect">
            <a:avLst>
              <a:gd name="adj" fmla="val 11593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3566058" y="5891610"/>
            <a:ext cx="4009872" cy="3104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50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Maps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3566058" y="6202098"/>
            <a:ext cx="4009872" cy="6323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927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3600" dirty="0"/>
          </a:p>
        </p:txBody>
      </p:sp>
      <p:sp>
        <p:nvSpPr>
          <p:cNvPr id="18" name="Shape 15"/>
          <p:cNvSpPr/>
          <p:nvPr/>
        </p:nvSpPr>
        <p:spPr>
          <a:xfrm>
            <a:off x="9172575" y="6995319"/>
            <a:ext cx="4214813" cy="1150276"/>
          </a:xfrm>
          <a:prstGeom prst="roundRect">
            <a:avLst>
              <a:gd name="adj" fmla="val 11593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275046" y="7118085"/>
            <a:ext cx="4009872" cy="3104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50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POOLING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9275046" y="7428574"/>
            <a:ext cx="4009872" cy="6323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3600" dirty="0"/>
          </a:p>
        </p:txBody>
      </p:sp>
      <p:sp>
        <p:nvSpPr>
          <p:cNvPr id="21" name="Shape 18"/>
          <p:cNvSpPr/>
          <p:nvPr/>
        </p:nvSpPr>
        <p:spPr>
          <a:xfrm>
            <a:off x="13463588" y="6995319"/>
            <a:ext cx="4214813" cy="1150276"/>
          </a:xfrm>
          <a:prstGeom prst="roundRect">
            <a:avLst>
              <a:gd name="adj" fmla="val 11593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3566058" y="7118085"/>
            <a:ext cx="4009872" cy="3104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50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PARAMS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13566058" y="7428574"/>
            <a:ext cx="4009872" cy="6323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~556K</a:t>
            </a:r>
            <a:endParaRPr lang="en-US" sz="3600" dirty="0"/>
          </a:p>
        </p:txBody>
      </p:sp>
      <p:sp>
        <p:nvSpPr>
          <p:cNvPr id="24" name="Shape 21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0" y="0"/>
            <a:ext cx="5486400" cy="57150"/>
          </a:xfrm>
          <a:prstGeom prst="rect">
            <a:avLst/>
          </a:prstGeom>
          <a:solidFill>
            <a:srgbClr val="32B8A9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2002558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12861660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12977018" y="190500"/>
            <a:ext cx="887545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15128610" y="203200"/>
            <a:ext cx="54954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36" name="Text 33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7" name="Text 34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  <p:sp>
        <p:nvSpPr>
          <p:cNvPr id="38" name="Shape 35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0" y="0"/>
            <a:ext cx="4840817" cy="57150"/>
          </a:xfrm>
          <a:prstGeom prst="rect">
            <a:avLst/>
          </a:prstGeom>
          <a:solidFill>
            <a:srgbClr val="32B8A9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12002558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42" name="Text 39"/>
          <p:cNvSpPr/>
          <p:nvPr/>
        </p:nvSpPr>
        <p:spPr>
          <a:xfrm>
            <a:off x="12861660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3" name="Text 40"/>
          <p:cNvSpPr/>
          <p:nvPr/>
        </p:nvSpPr>
        <p:spPr>
          <a:xfrm>
            <a:off x="12977018" y="190500"/>
            <a:ext cx="887545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44" name="Text 41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5" name="Text 42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46" name="Text 43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7" name="Text 44"/>
          <p:cNvSpPr/>
          <p:nvPr/>
        </p:nvSpPr>
        <p:spPr>
          <a:xfrm>
            <a:off x="15128610" y="203200"/>
            <a:ext cx="54954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48" name="Text 45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9" name="Text 46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50" name="Text 47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1" name="Text 48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  <p:sp>
        <p:nvSpPr>
          <p:cNvPr id="52" name="Text 11">
            <a:extLst>
              <a:ext uri="{FF2B5EF4-FFF2-40B4-BE49-F238E27FC236}">
                <a16:creationId xmlns:a16="http://schemas.microsoft.com/office/drawing/2014/main" id="{CE458181-D4C2-5467-F760-A835C359B97D}"/>
              </a:ext>
            </a:extLst>
          </p:cNvPr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b="1" kern="0" spc="15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33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9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5808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kern="0" spc="150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17580864" cy="708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Residual Learning Strategy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600" y="3362939"/>
            <a:ext cx="87610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Predict Noise Instead of Clean Image?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643467" y="3901017"/>
            <a:ext cx="33867" cy="1239838"/>
          </a:xfrm>
          <a:prstGeom prst="rect">
            <a:avLst/>
          </a:prstGeom>
          <a:solidFill>
            <a:srgbClr val="3CD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6884" y="3901017"/>
            <a:ext cx="8510281" cy="1277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low noise, </a:t>
            </a:r>
            <a:r>
              <a:rPr lang="en-US" sz="255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≈ x </a:t>
            </a: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Learning F(y) ≈ identity is </a:t>
            </a:r>
            <a:r>
              <a:rPr lang="en-US" sz="2550" b="1" dirty="0">
                <a:solidFill>
                  <a:srgbClr val="FF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</a:t>
            </a: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Learning R(y) = v ≈ small perturbation is </a:t>
            </a:r>
            <a:r>
              <a:rPr lang="en-US" sz="255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643467" y="5312304"/>
            <a:ext cx="87610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Function (MSE on Residual)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43467" y="5850467"/>
            <a:ext cx="8505825" cy="630767"/>
          </a:xfrm>
          <a:prstGeom prst="roundRect">
            <a:avLst>
              <a:gd name="adj" fmla="val 15101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91046" y="5992283"/>
            <a:ext cx="8210666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ℓ(Θ) = ¹⁄₂ₙ Σᵢ ‖ℛ(yᵢ; Θ) − (yᵢ − xᵢ)‖²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43467" y="6652683"/>
            <a:ext cx="8761000" cy="88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Minimizes distance between predicted and actual noise over N training pairs</a:t>
            </a:r>
            <a:endParaRPr lang="en-US" sz="25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7988" y="2638160"/>
            <a:ext cx="5715000" cy="57150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0" y="0"/>
            <a:ext cx="6095868" cy="57150"/>
          </a:xfrm>
          <a:prstGeom prst="rect">
            <a:avLst/>
          </a:prstGeom>
          <a:solidFill>
            <a:srgbClr val="32B8A9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b="1" kern="0" spc="15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33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2002558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12861660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12977018" y="190500"/>
            <a:ext cx="887545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15128610" y="203200"/>
            <a:ext cx="54954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  <p:sp>
        <p:nvSpPr>
          <p:cNvPr id="26" name="Shape 23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0" y="0"/>
            <a:ext cx="5378715" cy="57150"/>
          </a:xfrm>
          <a:prstGeom prst="rect">
            <a:avLst/>
          </a:prstGeom>
          <a:solidFill>
            <a:srgbClr val="32B8A9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2002558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12861660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12977018" y="190500"/>
            <a:ext cx="887545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15128610" y="203200"/>
            <a:ext cx="54954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36" name="Text 33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7" name="Text 34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9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5808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kern="0" spc="150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17580864" cy="708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RL + BN Synergy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600" y="1375304"/>
            <a:ext cx="8455910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Learning and Batch Normalization are mutually beneficial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471939" y="3013096"/>
            <a:ext cx="8505825" cy="2033191"/>
          </a:xfrm>
          <a:prstGeom prst="roundRect">
            <a:avLst>
              <a:gd name="adj" fmla="val 6559"/>
            </a:avLst>
          </a:prstGeom>
          <a:solidFill>
            <a:srgbClr val="1113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5791" y="5071025"/>
            <a:ext cx="8505825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9600" y="1853406"/>
            <a:ext cx="8505825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931" y="3047888"/>
            <a:ext cx="33867" cy="2033191"/>
          </a:xfrm>
          <a:prstGeom prst="rect">
            <a:avLst/>
          </a:prstGeom>
          <a:solidFill>
            <a:srgbClr val="3CD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06958" y="1853406"/>
            <a:ext cx="9525" cy="2033191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2058" y="3169068"/>
            <a:ext cx="8403452" cy="41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5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Benefits from BN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706079" y="3579569"/>
            <a:ext cx="8461587" cy="141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 alleviates internal covariate shift</a:t>
            </a:r>
            <a:endParaRPr lang="en-US" sz="25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BN, RL alone cannot match TNRD (28.92 dB)</a:t>
            </a:r>
            <a:endParaRPr lang="en-US" sz="25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 enables stable training with higher learning rates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475791" y="5143500"/>
            <a:ext cx="8505825" cy="2033191"/>
          </a:xfrm>
          <a:prstGeom prst="roundRect">
            <a:avLst>
              <a:gd name="adj" fmla="val 6559"/>
            </a:avLst>
          </a:prstGeom>
          <a:solidFill>
            <a:srgbClr val="1113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791" y="7180416"/>
            <a:ext cx="8505825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791" y="5155692"/>
            <a:ext cx="8505825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791" y="5155692"/>
            <a:ext cx="33867" cy="2033191"/>
          </a:xfrm>
          <a:prstGeom prst="rect">
            <a:avLst/>
          </a:prstGeom>
          <a:solidFill>
            <a:srgbClr val="2A1C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973149" y="5155692"/>
            <a:ext cx="9525" cy="2033191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2058" y="5278459"/>
            <a:ext cx="8403452" cy="41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50" b="1" dirty="0">
                <a:solidFill>
                  <a:srgbClr val="927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 Benefits from RL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693129" y="5688960"/>
            <a:ext cx="8461587" cy="14152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RL, BN can actually hurt convergence</a:t>
            </a:r>
            <a:endParaRPr lang="en-US" sz="25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makes hidden layer inputs Gaussian-like</a:t>
            </a:r>
            <a:endParaRPr lang="en-US" sz="25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become less correlated → ideal for BN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475791" y="7265083"/>
            <a:ext cx="8505825" cy="938742"/>
          </a:xfrm>
          <a:prstGeom prst="roundRect">
            <a:avLst>
              <a:gd name="adj" fmla="val 14205"/>
            </a:avLst>
          </a:prstGeom>
          <a:solidFill>
            <a:srgbClr val="996D1A">
              <a:alpha val="6000"/>
            </a:srgbClr>
          </a:solidFill>
          <a:ln w="8467">
            <a:solidFill>
              <a:srgbClr val="A1721C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6658" y="7387849"/>
            <a:ext cx="8429614" cy="731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00" dirty="0">
                <a:solidFill>
                  <a:srgbClr val="FFF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across both SGD and Adam — it's the RL+BN integration, not the optimizer.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044988" y="1853406"/>
            <a:ext cx="8761000" cy="41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Histograms — Why BN Works with RL</a:t>
            </a:r>
            <a:endParaRPr lang="en-US" sz="255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06385" y="2321057"/>
            <a:ext cx="8493935" cy="6520657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044988" y="8946092"/>
            <a:ext cx="8761000" cy="731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100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 2 — RL+BN (red) converges fastest to highest PSNR across SGD and Adam</a:t>
            </a:r>
            <a:endParaRPr lang="en-US" sz="2100" dirty="0"/>
          </a:p>
        </p:txBody>
      </p:sp>
      <p:sp>
        <p:nvSpPr>
          <p:cNvPr id="25" name="Shape 22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0" y="0"/>
            <a:ext cx="6705600" cy="57150"/>
          </a:xfrm>
          <a:prstGeom prst="rect">
            <a:avLst/>
          </a:prstGeom>
          <a:solidFill>
            <a:srgbClr val="32B8A9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b="1" kern="0" spc="15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33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12002558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12861660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12977018" y="190500"/>
            <a:ext cx="887545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15128610" y="203200"/>
            <a:ext cx="54954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6" name="Text 33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37" name="Text 34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  <p:sp>
        <p:nvSpPr>
          <p:cNvPr id="39" name="Shape 36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0" y="0"/>
            <a:ext cx="5916613" cy="57150"/>
          </a:xfrm>
          <a:prstGeom prst="rect">
            <a:avLst/>
          </a:prstGeom>
          <a:solidFill>
            <a:srgbClr val="32B8A9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650" dirty="0"/>
          </a:p>
        </p:txBody>
      </p:sp>
      <p:sp>
        <p:nvSpPr>
          <p:cNvPr id="42" name="Text 39"/>
          <p:cNvSpPr/>
          <p:nvPr/>
        </p:nvSpPr>
        <p:spPr>
          <a:xfrm>
            <a:off x="12002558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43" name="Text 40"/>
          <p:cNvSpPr/>
          <p:nvPr/>
        </p:nvSpPr>
        <p:spPr>
          <a:xfrm>
            <a:off x="12861660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4" name="Text 41"/>
          <p:cNvSpPr/>
          <p:nvPr/>
        </p:nvSpPr>
        <p:spPr>
          <a:xfrm>
            <a:off x="12977018" y="190500"/>
            <a:ext cx="887545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45" name="Text 42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6" name="Text 43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47" name="Text 44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8" name="Text 45"/>
          <p:cNvSpPr/>
          <p:nvPr/>
        </p:nvSpPr>
        <p:spPr>
          <a:xfrm>
            <a:off x="15128610" y="203200"/>
            <a:ext cx="54954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49" name="Text 46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0" name="Text 47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51" name="Text 48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2" name="Text 49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9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5808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kern="0" spc="150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17580864" cy="708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Depth &amp; Receptive Field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83000" y="3312054"/>
            <a:ext cx="8505825" cy="647700"/>
          </a:xfrm>
          <a:prstGeom prst="roundRect">
            <a:avLst>
              <a:gd name="adj" fmla="val 14706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579" y="3453871"/>
            <a:ext cx="8210666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= (2d + 1) × (2d + 1)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383000" y="4016904"/>
            <a:ext cx="8505825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5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pooling → each 3×3 conv adds 2 pixels to RF per side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383000" y="4590256"/>
            <a:ext cx="8505825" cy="821267"/>
          </a:xfrm>
          <a:prstGeom prst="roundRect">
            <a:avLst>
              <a:gd name="adj" fmla="val 16237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5513" y="4713966"/>
            <a:ext cx="1618703" cy="513820"/>
          </a:xfrm>
          <a:prstGeom prst="roundRect">
            <a:avLst>
              <a:gd name="adj" fmla="val 18750"/>
            </a:avLst>
          </a:prstGeom>
          <a:solidFill>
            <a:srgbClr val="32B8A9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5861" y="4765130"/>
            <a:ext cx="1428268" cy="449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b="1" kern="0" spc="38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DnCNN-S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19057" y="4797690"/>
            <a:ext cx="5619411" cy="613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D3C5AC"/>
                </a:solidFill>
                <a:latin typeface="Arial" pitchFamily="34" charset="0"/>
                <a:cs typeface="Arial" pitchFamily="34" charset="-120"/>
              </a:rPr>
              <a:t>Depth 17 · RF 35×35 Known noise level σ</a:t>
            </a:r>
          </a:p>
        </p:txBody>
      </p:sp>
      <p:sp>
        <p:nvSpPr>
          <p:cNvPr id="11" name="Shape 9"/>
          <p:cNvSpPr/>
          <p:nvPr/>
        </p:nvSpPr>
        <p:spPr>
          <a:xfrm>
            <a:off x="383000" y="5468673"/>
            <a:ext cx="8505825" cy="821267"/>
          </a:xfrm>
          <a:prstGeom prst="roundRect">
            <a:avLst>
              <a:gd name="adj" fmla="val 16237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3867" y="5590032"/>
            <a:ext cx="1670350" cy="441674"/>
          </a:xfrm>
          <a:prstGeom prst="roundRect">
            <a:avLst>
              <a:gd name="adj" fmla="val 18750"/>
            </a:avLst>
          </a:prstGeom>
          <a:solidFill>
            <a:srgbClr val="7E0F32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1017" y="5645241"/>
            <a:ext cx="1473838" cy="386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b="1" kern="0" spc="38" dirty="0">
                <a:solidFill>
                  <a:srgbClr val="FF9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DnCNN-B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419057" y="5676975"/>
            <a:ext cx="5989801" cy="613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D3C5AC"/>
                </a:solidFill>
                <a:latin typeface="Arial" pitchFamily="34" charset="0"/>
                <a:cs typeface="Arial" pitchFamily="34" charset="-120"/>
              </a:rPr>
              <a:t>Depth 20 · RF 41×41 Blind Gaussian denoising</a:t>
            </a:r>
          </a:p>
        </p:txBody>
      </p:sp>
      <p:sp>
        <p:nvSpPr>
          <p:cNvPr id="15" name="Shape 13"/>
          <p:cNvSpPr/>
          <p:nvPr/>
        </p:nvSpPr>
        <p:spPr>
          <a:xfrm>
            <a:off x="383000" y="6393391"/>
            <a:ext cx="8505825" cy="821267"/>
          </a:xfrm>
          <a:prstGeom prst="roundRect">
            <a:avLst>
              <a:gd name="adj" fmla="val 16237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74009" y="6631401"/>
            <a:ext cx="1640208" cy="478383"/>
          </a:xfrm>
          <a:prstGeom prst="roundRect">
            <a:avLst>
              <a:gd name="adj" fmla="val 18750"/>
            </a:avLst>
          </a:prstGeom>
          <a:solidFill>
            <a:srgbClr val="996D1A">
              <a:alpha val="15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1017" y="6643422"/>
            <a:ext cx="1447242" cy="4185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kern="0" spc="38" dirty="0">
                <a:solidFill>
                  <a:srgbClr val="FFFB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DnCNN-3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419057" y="6600825"/>
            <a:ext cx="5874054" cy="613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D3C5AC"/>
                </a:solidFill>
                <a:latin typeface="Arial" pitchFamily="34" charset="0"/>
                <a:cs typeface="Arial" pitchFamily="34" charset="-120"/>
              </a:rPr>
              <a:t>Depth 20 · RF 41×41 Three tasks jointly</a:t>
            </a:r>
          </a:p>
        </p:txBody>
      </p:sp>
      <p:sp>
        <p:nvSpPr>
          <p:cNvPr id="19" name="Shape 17"/>
          <p:cNvSpPr/>
          <p:nvPr/>
        </p:nvSpPr>
        <p:spPr>
          <a:xfrm>
            <a:off x="9172575" y="1432454"/>
            <a:ext cx="8522758" cy="7246805"/>
          </a:xfrm>
          <a:prstGeom prst="roundRect">
            <a:avLst>
              <a:gd name="adj" fmla="val 1577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3807" y="1529887"/>
            <a:ext cx="8522758" cy="7246805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0" y="0"/>
            <a:ext cx="7315200" cy="57150"/>
          </a:xfrm>
          <a:prstGeom prst="rect">
            <a:avLst/>
          </a:prstGeom>
          <a:solidFill>
            <a:srgbClr val="32B8A9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b="1" kern="0" spc="15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33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12002558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12861660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12977018" y="190500"/>
            <a:ext cx="887545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15128610" y="203200"/>
            <a:ext cx="54954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  <p:sp>
        <p:nvSpPr>
          <p:cNvPr id="35" name="Shape 32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0" y="0"/>
            <a:ext cx="6454511" cy="57150"/>
          </a:xfrm>
          <a:prstGeom prst="rect">
            <a:avLst/>
          </a:prstGeom>
          <a:solidFill>
            <a:srgbClr val="32B8A9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650" dirty="0"/>
          </a:p>
        </p:txBody>
      </p:sp>
      <p:sp>
        <p:nvSpPr>
          <p:cNvPr id="38" name="Text 35"/>
          <p:cNvSpPr/>
          <p:nvPr/>
        </p:nvSpPr>
        <p:spPr>
          <a:xfrm>
            <a:off x="12002558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12861660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12977018" y="190500"/>
            <a:ext cx="887545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41" name="Text 38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2" name="Text 39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43" name="Text 40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4" name="Text 41"/>
          <p:cNvSpPr/>
          <p:nvPr/>
        </p:nvSpPr>
        <p:spPr>
          <a:xfrm>
            <a:off x="15128610" y="203200"/>
            <a:ext cx="54954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45" name="Text 42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6" name="Text 43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47" name="Text 44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8" name="Text 45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9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5808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kern="0" spc="150" dirty="0">
                <a:solidFill>
                  <a:srgbClr val="FFFB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17580864" cy="708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DnCNN-3: One Model, Three Tasks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4185034" y="1437490"/>
            <a:ext cx="9356408" cy="1404805"/>
          </a:xfrm>
          <a:prstGeom prst="roundRect">
            <a:avLst>
              <a:gd name="adj" fmla="val 10848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248534" y="1617407"/>
            <a:ext cx="9229408" cy="3104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50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Unifying Degradation Model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4382944" y="1946945"/>
            <a:ext cx="8960591" cy="715433"/>
          </a:xfrm>
          <a:prstGeom prst="roundRect">
            <a:avLst>
              <a:gd name="adj" fmla="val 13314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51217" y="2088762"/>
            <a:ext cx="8624042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000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x + v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471102" y="2899445"/>
            <a:ext cx="3062923" cy="1658408"/>
          </a:xfrm>
          <a:prstGeom prst="roundRect">
            <a:avLst>
              <a:gd name="adj" fmla="val 8041"/>
            </a:avLst>
          </a:prstGeom>
          <a:solidFill>
            <a:srgbClr val="1113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71102" y="4549387"/>
            <a:ext cx="3062923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71102" y="2899445"/>
            <a:ext cx="3062923" cy="25400"/>
          </a:xfrm>
          <a:prstGeom prst="rect">
            <a:avLst/>
          </a:prstGeom>
          <a:solidFill>
            <a:srgbClr val="2A1C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09849" y="2899445"/>
            <a:ext cx="10478" cy="1658408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385857" y="2899445"/>
            <a:ext cx="10478" cy="1658408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627" y="3023270"/>
            <a:ext cx="523875" cy="3492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606146" y="3456129"/>
            <a:ext cx="2792836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927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Denoising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4606146" y="3840833"/>
            <a:ext cx="2792836" cy="6323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= AWGN σ ∈ [0, 55]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331777" y="2899445"/>
            <a:ext cx="3062923" cy="1658408"/>
          </a:xfrm>
          <a:prstGeom prst="roundRect">
            <a:avLst>
              <a:gd name="adj" fmla="val 8041"/>
            </a:avLst>
          </a:prstGeom>
          <a:solidFill>
            <a:srgbClr val="1113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331777" y="4549387"/>
            <a:ext cx="3062923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331777" y="2899445"/>
            <a:ext cx="3062923" cy="25400"/>
          </a:xfrm>
          <a:prstGeom prst="rect">
            <a:avLst/>
          </a:prstGeom>
          <a:solidFill>
            <a:srgbClr val="3CD8C8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470524" y="2899445"/>
            <a:ext cx="10478" cy="1658408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0246533" y="2899445"/>
            <a:ext cx="10478" cy="1658408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1302" y="3023270"/>
            <a:ext cx="523875" cy="34925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466821" y="3456129"/>
            <a:ext cx="2792836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Super-Resolution</a:t>
            </a:r>
            <a:endParaRPr lang="en-US" sz="2100" dirty="0"/>
          </a:p>
        </p:txBody>
      </p:sp>
      <p:sp>
        <p:nvSpPr>
          <p:cNvPr id="23" name="Text 19"/>
          <p:cNvSpPr/>
          <p:nvPr/>
        </p:nvSpPr>
        <p:spPr>
          <a:xfrm>
            <a:off x="7466821" y="3840833"/>
            <a:ext cx="2792836" cy="6323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= HR − bicubic(LR) ×2, ×3, ×4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10192452" y="2899445"/>
            <a:ext cx="3062923" cy="1658408"/>
          </a:xfrm>
          <a:prstGeom prst="roundRect">
            <a:avLst>
              <a:gd name="adj" fmla="val 8041"/>
            </a:avLst>
          </a:prstGeom>
          <a:solidFill>
            <a:srgbClr val="1113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10192452" y="4549387"/>
            <a:ext cx="3062923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10192452" y="2899445"/>
            <a:ext cx="3062923" cy="25400"/>
          </a:xfrm>
          <a:prstGeom prst="rect">
            <a:avLst/>
          </a:prstGeom>
          <a:solidFill>
            <a:srgbClr val="881036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10331199" y="2899445"/>
            <a:ext cx="10478" cy="1658408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13107208" y="2899445"/>
            <a:ext cx="10478" cy="1658408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1976" y="3023270"/>
            <a:ext cx="523875" cy="34925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0327496" y="3456129"/>
            <a:ext cx="2792836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JPEG Deblocking</a:t>
            </a:r>
            <a:endParaRPr lang="en-US" sz="2100" dirty="0"/>
          </a:p>
        </p:txBody>
      </p:sp>
      <p:sp>
        <p:nvSpPr>
          <p:cNvPr id="31" name="Text 26"/>
          <p:cNvSpPr/>
          <p:nvPr/>
        </p:nvSpPr>
        <p:spPr>
          <a:xfrm>
            <a:off x="10327496" y="3840833"/>
            <a:ext cx="2792836" cy="6323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= orig − compressed QF 5–99</a:t>
            </a:r>
            <a:endParaRPr lang="en-US" sz="180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446768" y="5301589"/>
            <a:ext cx="14832940" cy="4318661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2827966" y="9646879"/>
            <a:ext cx="12141318" cy="731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100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 12 — One model handles 6 different degradations simultaneously</a:t>
            </a:r>
            <a:endParaRPr lang="en-US" sz="2100" dirty="0"/>
          </a:p>
        </p:txBody>
      </p:sp>
      <p:sp>
        <p:nvSpPr>
          <p:cNvPr id="35" name="Shape 29"/>
          <p:cNvSpPr/>
          <p:nvPr/>
        </p:nvSpPr>
        <p:spPr>
          <a:xfrm>
            <a:off x="4787137" y="4480898"/>
            <a:ext cx="8505825" cy="600604"/>
          </a:xfrm>
          <a:prstGeom prst="roundRect">
            <a:avLst>
              <a:gd name="adj" fmla="val 22203"/>
            </a:avLst>
          </a:prstGeom>
          <a:solidFill>
            <a:srgbClr val="2B1D80">
              <a:alpha val="12000"/>
            </a:srgbClr>
          </a:solidFill>
          <a:ln w="8467">
            <a:solidFill>
              <a:srgbClr val="2A1C7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4760375" y="4622562"/>
            <a:ext cx="8429614" cy="393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previous method </a:t>
            </a:r>
            <a:r>
              <a:rPr lang="en-US" sz="2100" dirty="0">
                <a:solidFill>
                  <a:srgbClr val="FFF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 handled all three tasks with one model.</a:t>
            </a:r>
            <a:endParaRPr lang="en-US" sz="2100" dirty="0"/>
          </a:p>
        </p:txBody>
      </p:sp>
      <p:sp>
        <p:nvSpPr>
          <p:cNvPr id="37" name="Shape 31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0" y="0"/>
            <a:ext cx="7924668" cy="57150"/>
          </a:xfrm>
          <a:prstGeom prst="rect">
            <a:avLst/>
          </a:prstGeom>
          <a:solidFill>
            <a:srgbClr val="32B8A9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b="1" kern="0" spc="15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33</a:t>
            </a:r>
            <a:endParaRPr lang="en-US" sz="1650" dirty="0"/>
          </a:p>
        </p:txBody>
      </p:sp>
      <p:sp>
        <p:nvSpPr>
          <p:cNvPr id="40" name="Text 34"/>
          <p:cNvSpPr/>
          <p:nvPr/>
        </p:nvSpPr>
        <p:spPr>
          <a:xfrm>
            <a:off x="12002558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41" name="Text 35"/>
          <p:cNvSpPr/>
          <p:nvPr/>
        </p:nvSpPr>
        <p:spPr>
          <a:xfrm>
            <a:off x="12861660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2" name="Text 36"/>
          <p:cNvSpPr/>
          <p:nvPr/>
        </p:nvSpPr>
        <p:spPr>
          <a:xfrm>
            <a:off x="12977018" y="190500"/>
            <a:ext cx="887545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43" name="Text 37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4" name="Text 38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45" name="Text 39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6" name="Text 40"/>
          <p:cNvSpPr/>
          <p:nvPr/>
        </p:nvSpPr>
        <p:spPr>
          <a:xfrm>
            <a:off x="15128610" y="203200"/>
            <a:ext cx="54954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47" name="Text 41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8" name="Text 42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49" name="Text 43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0" name="Text 44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  <p:sp>
        <p:nvSpPr>
          <p:cNvPr id="51" name="Shape 45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6"/>
          <p:cNvSpPr/>
          <p:nvPr/>
        </p:nvSpPr>
        <p:spPr>
          <a:xfrm>
            <a:off x="0" y="0"/>
            <a:ext cx="6992409" cy="57150"/>
          </a:xfrm>
          <a:prstGeom prst="rect">
            <a:avLst/>
          </a:prstGeom>
          <a:solidFill>
            <a:srgbClr val="32B8A9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7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650" dirty="0"/>
          </a:p>
        </p:txBody>
      </p:sp>
      <p:sp>
        <p:nvSpPr>
          <p:cNvPr id="54" name="Text 48"/>
          <p:cNvSpPr/>
          <p:nvPr/>
        </p:nvSpPr>
        <p:spPr>
          <a:xfrm>
            <a:off x="12002558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55" name="Text 49"/>
          <p:cNvSpPr/>
          <p:nvPr/>
        </p:nvSpPr>
        <p:spPr>
          <a:xfrm>
            <a:off x="12861660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6" name="Text 50"/>
          <p:cNvSpPr/>
          <p:nvPr/>
        </p:nvSpPr>
        <p:spPr>
          <a:xfrm>
            <a:off x="12977018" y="190500"/>
            <a:ext cx="887545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57" name="Text 51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8" name="Text 52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59" name="Text 53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60" name="Text 54"/>
          <p:cNvSpPr/>
          <p:nvPr/>
        </p:nvSpPr>
        <p:spPr>
          <a:xfrm>
            <a:off x="15128610" y="203200"/>
            <a:ext cx="54954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61" name="Text 55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62" name="Text 56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63" name="Text 57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64" name="Text 58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b="541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94">
            <a:extLst>
              <a:ext uri="{FF2B5EF4-FFF2-40B4-BE49-F238E27FC236}">
                <a16:creationId xmlns:a16="http://schemas.microsoft.com/office/drawing/2014/main" id="{785CD1B4-B908-1474-5A4C-6842813B53EF}"/>
              </a:ext>
            </a:extLst>
          </p:cNvPr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b="1" kern="0" spc="15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33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9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2">
            <a:extLst>
              <a:ext uri="{FF2B5EF4-FFF2-40B4-BE49-F238E27FC236}">
                <a16:creationId xmlns:a16="http://schemas.microsoft.com/office/drawing/2014/main" id="{F1913644-42E0-F551-1E4A-F30CC3ADD173}"/>
              </a:ext>
            </a:extLst>
          </p:cNvPr>
          <p:cNvSpPr/>
          <p:nvPr/>
        </p:nvSpPr>
        <p:spPr>
          <a:xfrm>
            <a:off x="9220625" y="2952328"/>
            <a:ext cx="8783388" cy="3211204"/>
          </a:xfrm>
          <a:prstGeom prst="roundRect">
            <a:avLst>
              <a:gd name="adj" fmla="val 10541"/>
            </a:avLst>
          </a:prstGeom>
          <a:solidFill>
            <a:srgbClr val="11131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3" name="Shape 2">
            <a:extLst>
              <a:ext uri="{FF2B5EF4-FFF2-40B4-BE49-F238E27FC236}">
                <a16:creationId xmlns:a16="http://schemas.microsoft.com/office/drawing/2014/main" id="{5B49860D-AEB4-D35D-0030-1CAB5A5D65AE}"/>
              </a:ext>
            </a:extLst>
          </p:cNvPr>
          <p:cNvSpPr/>
          <p:nvPr/>
        </p:nvSpPr>
        <p:spPr>
          <a:xfrm>
            <a:off x="612939" y="1634656"/>
            <a:ext cx="8505825" cy="6032499"/>
          </a:xfrm>
          <a:prstGeom prst="roundRect">
            <a:avLst>
              <a:gd name="adj" fmla="val 2730"/>
            </a:avLst>
          </a:prstGeom>
          <a:solidFill>
            <a:srgbClr val="11131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" name="Text 0"/>
          <p:cNvSpPr/>
          <p:nvPr/>
        </p:nvSpPr>
        <p:spPr>
          <a:xfrm>
            <a:off x="609600" y="381000"/>
            <a:ext cx="175808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kern="0" spc="150" dirty="0">
                <a:solidFill>
                  <a:srgbClr val="FF9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17580864" cy="708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Datasets &amp; Data Pipeline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600" y="2601891"/>
            <a:ext cx="1590807" cy="16933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04850" y="2316141"/>
            <a:ext cx="147650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200407" y="2601891"/>
            <a:ext cx="2297642" cy="16933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95657" y="2316141"/>
            <a:ext cx="218334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98049" y="2601891"/>
            <a:ext cx="1628378" cy="16933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93299" y="2316141"/>
            <a:ext cx="151407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26427" y="2601891"/>
            <a:ext cx="1048941" cy="16933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21677" y="2316141"/>
            <a:ext cx="93464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175368" y="2601891"/>
            <a:ext cx="1940057" cy="16933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270618" y="2316141"/>
            <a:ext cx="18257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NOISE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9600" y="3080258"/>
            <a:ext cx="1590807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04850" y="2675975"/>
            <a:ext cx="1103974" cy="347133"/>
          </a:xfrm>
          <a:prstGeom prst="roundRect">
            <a:avLst>
              <a:gd name="adj" fmla="val 16463"/>
            </a:avLst>
          </a:prstGeom>
          <a:solidFill>
            <a:srgbClr val="32B8A9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0100" y="2714075"/>
            <a:ext cx="989674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DnCNN-S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2200407" y="3080258"/>
            <a:ext cx="2297642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295657" y="2675975"/>
            <a:ext cx="2183342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imgs (180²)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4498049" y="3080258"/>
            <a:ext cx="1628378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93299" y="2675975"/>
            <a:ext cx="1514078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128×1,600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6126427" y="3080258"/>
            <a:ext cx="1048941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21677" y="2675975"/>
            <a:ext cx="934641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40×40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7175368" y="3080258"/>
            <a:ext cx="1940057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270618" y="2675975"/>
            <a:ext cx="1825757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σ∈{15,25,50}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609600" y="3550158"/>
            <a:ext cx="1590807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04850" y="3145875"/>
            <a:ext cx="1103974" cy="347133"/>
          </a:xfrm>
          <a:prstGeom prst="roundRect">
            <a:avLst>
              <a:gd name="adj" fmla="val 16463"/>
            </a:avLst>
          </a:prstGeom>
          <a:solidFill>
            <a:srgbClr val="7E0F32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00100" y="3183975"/>
            <a:ext cx="989674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FF9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DnCNN-B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2200407" y="3550158"/>
            <a:ext cx="2297642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295657" y="3145875"/>
            <a:ext cx="2183342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imgs (180²)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4498049" y="3550158"/>
            <a:ext cx="1628378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93299" y="3145875"/>
            <a:ext cx="1514078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128×3,000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6126427" y="3550158"/>
            <a:ext cx="1048941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21677" y="3145875"/>
            <a:ext cx="934641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50×50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7175368" y="3550158"/>
            <a:ext cx="1940057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270618" y="3145875"/>
            <a:ext cx="1825757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σ∈[0,55]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609600" y="4020058"/>
            <a:ext cx="1590807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04850" y="3615775"/>
            <a:ext cx="1234546" cy="347133"/>
          </a:xfrm>
          <a:prstGeom prst="roundRect">
            <a:avLst>
              <a:gd name="adj" fmla="val 16463"/>
            </a:avLst>
          </a:prstGeom>
          <a:solidFill>
            <a:srgbClr val="7E0F32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00100" y="3653875"/>
            <a:ext cx="112024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FF9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CDnCNN-B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2200407" y="4020058"/>
            <a:ext cx="2297642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295657" y="3615775"/>
            <a:ext cx="2183342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432 BSD color</a:t>
            </a:r>
            <a:endParaRPr lang="en-US" sz="2100" dirty="0"/>
          </a:p>
        </p:txBody>
      </p:sp>
      <p:sp>
        <p:nvSpPr>
          <p:cNvPr id="41" name="Shape 39"/>
          <p:cNvSpPr/>
          <p:nvPr/>
        </p:nvSpPr>
        <p:spPr>
          <a:xfrm>
            <a:off x="4498049" y="4020058"/>
            <a:ext cx="1628378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93299" y="3615775"/>
            <a:ext cx="1514078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128×3,000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6126427" y="4020058"/>
            <a:ext cx="1048941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221677" y="3615775"/>
            <a:ext cx="934641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50×50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7175368" y="4020058"/>
            <a:ext cx="1940057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270618" y="3615775"/>
            <a:ext cx="1825757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σ∈[0,55]</a:t>
            </a:r>
            <a:endParaRPr lang="en-US" sz="2100" dirty="0"/>
          </a:p>
        </p:txBody>
      </p:sp>
      <p:sp>
        <p:nvSpPr>
          <p:cNvPr id="47" name="Shape 45"/>
          <p:cNvSpPr/>
          <p:nvPr/>
        </p:nvSpPr>
        <p:spPr>
          <a:xfrm>
            <a:off x="704850" y="4085674"/>
            <a:ext cx="1103974" cy="347133"/>
          </a:xfrm>
          <a:prstGeom prst="roundRect">
            <a:avLst>
              <a:gd name="adj" fmla="val 16463"/>
            </a:avLst>
          </a:prstGeom>
          <a:solidFill>
            <a:srgbClr val="996D1A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00100" y="4123774"/>
            <a:ext cx="989674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FFFB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DnCNN-3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2295657" y="4085674"/>
            <a:ext cx="2183342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91+200 BSD</a:t>
            </a:r>
            <a:endParaRPr lang="en-US" sz="2100" dirty="0"/>
          </a:p>
        </p:txBody>
      </p:sp>
      <p:sp>
        <p:nvSpPr>
          <p:cNvPr id="50" name="Text 48"/>
          <p:cNvSpPr/>
          <p:nvPr/>
        </p:nvSpPr>
        <p:spPr>
          <a:xfrm>
            <a:off x="4593299" y="4085674"/>
            <a:ext cx="1514078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128×8,000</a:t>
            </a:r>
            <a:endParaRPr lang="en-US" sz="2100" dirty="0"/>
          </a:p>
        </p:txBody>
      </p:sp>
      <p:sp>
        <p:nvSpPr>
          <p:cNvPr id="51" name="Text 49"/>
          <p:cNvSpPr/>
          <p:nvPr/>
        </p:nvSpPr>
        <p:spPr>
          <a:xfrm>
            <a:off x="6221677" y="4085674"/>
            <a:ext cx="934641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50×50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7270618" y="4085674"/>
            <a:ext cx="1825757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tasks</a:t>
            </a:r>
            <a:endParaRPr lang="en-US" sz="2100" dirty="0"/>
          </a:p>
        </p:txBody>
      </p:sp>
      <p:sp>
        <p:nvSpPr>
          <p:cNvPr id="53" name="Text 51"/>
          <p:cNvSpPr/>
          <p:nvPr/>
        </p:nvSpPr>
        <p:spPr>
          <a:xfrm>
            <a:off x="737188" y="4823423"/>
            <a:ext cx="87610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Datasets</a:t>
            </a:r>
            <a:endParaRPr lang="en-US" sz="3000" dirty="0"/>
          </a:p>
        </p:txBody>
      </p:sp>
      <p:sp>
        <p:nvSpPr>
          <p:cNvPr id="54" name="Text 52"/>
          <p:cNvSpPr/>
          <p:nvPr/>
        </p:nvSpPr>
        <p:spPr>
          <a:xfrm>
            <a:off x="818606" y="5299673"/>
            <a:ext cx="8475250" cy="4922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BSD68: </a:t>
            </a: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 natural images (primary benchmark)</a:t>
            </a:r>
            <a:endParaRPr lang="en-US" sz="2700" dirty="0"/>
          </a:p>
        </p:txBody>
      </p:sp>
      <p:sp>
        <p:nvSpPr>
          <p:cNvPr id="55" name="Text 53"/>
          <p:cNvSpPr/>
          <p:nvPr/>
        </p:nvSpPr>
        <p:spPr>
          <a:xfrm>
            <a:off x="818606" y="5810980"/>
            <a:ext cx="8475250" cy="4922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Classics: </a:t>
            </a: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Lena, Barbara, Boat, etc.</a:t>
            </a:r>
            <a:endParaRPr lang="en-US" sz="2700" dirty="0"/>
          </a:p>
        </p:txBody>
      </p:sp>
      <p:sp>
        <p:nvSpPr>
          <p:cNvPr id="56" name="Text 54"/>
          <p:cNvSpPr/>
          <p:nvPr/>
        </p:nvSpPr>
        <p:spPr>
          <a:xfrm>
            <a:off x="818606" y="6322287"/>
            <a:ext cx="8475250" cy="4922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SR: </a:t>
            </a: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Set5, Set14, BSD100, Urban100</a:t>
            </a:r>
            <a:endParaRPr lang="en-US" sz="2700" dirty="0"/>
          </a:p>
        </p:txBody>
      </p:sp>
      <p:sp>
        <p:nvSpPr>
          <p:cNvPr id="57" name="Text 55"/>
          <p:cNvSpPr/>
          <p:nvPr/>
        </p:nvSpPr>
        <p:spPr>
          <a:xfrm>
            <a:off x="818606" y="6833595"/>
            <a:ext cx="8475250" cy="4922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JPEG: </a:t>
            </a: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Classic5, LIVE1</a:t>
            </a:r>
            <a:endParaRPr lang="en-US" sz="2700" dirty="0"/>
          </a:p>
        </p:txBody>
      </p:sp>
      <p:sp>
        <p:nvSpPr>
          <p:cNvPr id="58" name="Text 56"/>
          <p:cNvSpPr/>
          <p:nvPr/>
        </p:nvSpPr>
        <p:spPr>
          <a:xfrm>
            <a:off x="9390634" y="3348255"/>
            <a:ext cx="8761000" cy="41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Pipeline</a:t>
            </a:r>
            <a:endParaRPr lang="en-US" sz="2550" dirty="0"/>
          </a:p>
        </p:txBody>
      </p:sp>
      <p:sp>
        <p:nvSpPr>
          <p:cNvPr id="59" name="Shape 57"/>
          <p:cNvSpPr/>
          <p:nvPr/>
        </p:nvSpPr>
        <p:spPr>
          <a:xfrm>
            <a:off x="9370600" y="4320121"/>
            <a:ext cx="8505825" cy="1111382"/>
          </a:xfrm>
          <a:prstGeom prst="roundRect">
            <a:avLst>
              <a:gd name="adj" fmla="val 8570"/>
            </a:avLst>
          </a:prstGeom>
          <a:solidFill>
            <a:srgbClr val="1A1A19"/>
          </a:solidFill>
          <a:ln w="8467">
            <a:solidFill>
              <a:srgbClr val="3B3B39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70600" y="4088473"/>
            <a:ext cx="8505825" cy="1111382"/>
          </a:xfrm>
          <a:prstGeom prst="rect">
            <a:avLst/>
          </a:prstGeom>
        </p:spPr>
      </p:pic>
      <p:sp>
        <p:nvSpPr>
          <p:cNvPr id="61" name="Text 58"/>
          <p:cNvSpPr/>
          <p:nvPr/>
        </p:nvSpPr>
        <p:spPr>
          <a:xfrm>
            <a:off x="9243013" y="5280289"/>
            <a:ext cx="8761000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100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classic test images</a:t>
            </a:r>
            <a:endParaRPr lang="en-US" sz="2100" dirty="0"/>
          </a:p>
        </p:txBody>
      </p:sp>
      <p:sp>
        <p:nvSpPr>
          <p:cNvPr id="62" name="Shape 59"/>
          <p:cNvSpPr/>
          <p:nvPr/>
        </p:nvSpPr>
        <p:spPr>
          <a:xfrm>
            <a:off x="609600" y="7925859"/>
            <a:ext cx="17068800" cy="1980142"/>
          </a:xfrm>
          <a:prstGeom prst="roundRect">
            <a:avLst>
              <a:gd name="adj" fmla="val 7696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922867" y="8162925"/>
            <a:ext cx="16935535" cy="2608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 kern="0" spc="150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 TRAINING PIPELINE</a:t>
            </a:r>
            <a:endParaRPr lang="en-US" sz="1350" dirty="0"/>
          </a:p>
        </p:txBody>
      </p:sp>
      <p:sp>
        <p:nvSpPr>
          <p:cNvPr id="64" name="Shape 61"/>
          <p:cNvSpPr/>
          <p:nvPr/>
        </p:nvSpPr>
        <p:spPr>
          <a:xfrm>
            <a:off x="922867" y="8649494"/>
            <a:ext cx="1640814" cy="908050"/>
          </a:xfrm>
          <a:prstGeom prst="roundRect">
            <a:avLst>
              <a:gd name="adj" fmla="val 12587"/>
            </a:avLst>
          </a:prstGeom>
          <a:solidFill>
            <a:srgbClr val="2B1D80">
              <a:alpha val="14000"/>
            </a:srgbClr>
          </a:solidFill>
          <a:ln w="16933">
            <a:solidFill>
              <a:srgbClr val="2A1C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2"/>
          <p:cNvSpPr/>
          <p:nvPr/>
        </p:nvSpPr>
        <p:spPr>
          <a:xfrm>
            <a:off x="1092200" y="8799777"/>
            <a:ext cx="1302147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927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2100" dirty="0"/>
          </a:p>
        </p:txBody>
      </p:sp>
      <p:sp>
        <p:nvSpPr>
          <p:cNvPr id="66" name="Text 63"/>
          <p:cNvSpPr/>
          <p:nvPr/>
        </p:nvSpPr>
        <p:spPr>
          <a:xfrm>
            <a:off x="1092200" y="9184481"/>
            <a:ext cx="1302147" cy="2608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 images</a:t>
            </a:r>
            <a:endParaRPr lang="en-US" sz="1350" dirty="0"/>
          </a:p>
        </p:txBody>
      </p:sp>
      <p:sp>
        <p:nvSpPr>
          <p:cNvPr id="67" name="Text 64"/>
          <p:cNvSpPr/>
          <p:nvPr/>
        </p:nvSpPr>
        <p:spPr>
          <a:xfrm>
            <a:off x="2620830" y="8862219"/>
            <a:ext cx="372136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68" name="Shape 65"/>
          <p:cNvSpPr/>
          <p:nvPr/>
        </p:nvSpPr>
        <p:spPr>
          <a:xfrm>
            <a:off x="2973917" y="8538104"/>
            <a:ext cx="1640946" cy="1130829"/>
          </a:xfrm>
          <a:prstGeom prst="roundRect">
            <a:avLst>
              <a:gd name="adj" fmla="val 10108"/>
            </a:avLst>
          </a:prstGeom>
          <a:solidFill>
            <a:srgbClr val="2B1D80">
              <a:alpha val="10000"/>
            </a:srgbClr>
          </a:solidFill>
          <a:ln w="16933">
            <a:solidFill>
              <a:srgbClr val="2A1C7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6"/>
          <p:cNvSpPr/>
          <p:nvPr/>
        </p:nvSpPr>
        <p:spPr>
          <a:xfrm>
            <a:off x="3143250" y="8688388"/>
            <a:ext cx="1302279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927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</a:t>
            </a:r>
            <a:endParaRPr lang="en-US" sz="2100" dirty="0"/>
          </a:p>
        </p:txBody>
      </p:sp>
      <p:sp>
        <p:nvSpPr>
          <p:cNvPr id="70" name="Text 67"/>
          <p:cNvSpPr/>
          <p:nvPr/>
        </p:nvSpPr>
        <p:spPr>
          <a:xfrm>
            <a:off x="3143250" y="9073092"/>
            <a:ext cx="1302279" cy="483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40–50px patches</a:t>
            </a:r>
            <a:endParaRPr lang="en-US" sz="1350" dirty="0"/>
          </a:p>
        </p:txBody>
      </p:sp>
      <p:sp>
        <p:nvSpPr>
          <p:cNvPr id="71" name="Text 68"/>
          <p:cNvSpPr/>
          <p:nvPr/>
        </p:nvSpPr>
        <p:spPr>
          <a:xfrm>
            <a:off x="4672013" y="8862219"/>
            <a:ext cx="372136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72" name="Shape 69"/>
          <p:cNvSpPr/>
          <p:nvPr/>
        </p:nvSpPr>
        <p:spPr>
          <a:xfrm>
            <a:off x="5025099" y="8649494"/>
            <a:ext cx="1640814" cy="908050"/>
          </a:xfrm>
          <a:prstGeom prst="roundRect">
            <a:avLst>
              <a:gd name="adj" fmla="val 12587"/>
            </a:avLst>
          </a:prstGeom>
          <a:solidFill>
            <a:srgbClr val="7E0F32">
              <a:alpha val="12000"/>
            </a:srgbClr>
          </a:solidFill>
          <a:ln w="16933">
            <a:solidFill>
              <a:srgbClr val="8810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0"/>
          <p:cNvSpPr/>
          <p:nvPr/>
        </p:nvSpPr>
        <p:spPr>
          <a:xfrm>
            <a:off x="5194432" y="8799777"/>
            <a:ext cx="1302147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</a:t>
            </a:r>
            <a:endParaRPr lang="en-US" sz="2100" dirty="0"/>
          </a:p>
        </p:txBody>
      </p:sp>
      <p:sp>
        <p:nvSpPr>
          <p:cNvPr id="74" name="Text 71"/>
          <p:cNvSpPr/>
          <p:nvPr/>
        </p:nvSpPr>
        <p:spPr>
          <a:xfrm>
            <a:off x="5194432" y="9184481"/>
            <a:ext cx="1302147" cy="2608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 + Flip</a:t>
            </a:r>
            <a:endParaRPr lang="en-US" sz="1350" dirty="0"/>
          </a:p>
        </p:txBody>
      </p:sp>
      <p:sp>
        <p:nvSpPr>
          <p:cNvPr id="75" name="Text 72"/>
          <p:cNvSpPr/>
          <p:nvPr/>
        </p:nvSpPr>
        <p:spPr>
          <a:xfrm>
            <a:off x="6723062" y="8862219"/>
            <a:ext cx="372136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76" name="Shape 73"/>
          <p:cNvSpPr/>
          <p:nvPr/>
        </p:nvSpPr>
        <p:spPr>
          <a:xfrm>
            <a:off x="7076149" y="8649494"/>
            <a:ext cx="1640814" cy="908050"/>
          </a:xfrm>
          <a:prstGeom prst="roundRect">
            <a:avLst>
              <a:gd name="adj" fmla="val 12587"/>
            </a:avLst>
          </a:prstGeom>
          <a:solidFill>
            <a:srgbClr val="996D1A">
              <a:alpha val="12000"/>
            </a:srgbClr>
          </a:solidFill>
          <a:ln w="16933">
            <a:solidFill>
              <a:srgbClr val="A172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4"/>
          <p:cNvSpPr/>
          <p:nvPr/>
        </p:nvSpPr>
        <p:spPr>
          <a:xfrm>
            <a:off x="7245482" y="8799777"/>
            <a:ext cx="1302147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Noise</a:t>
            </a:r>
            <a:endParaRPr lang="en-US" sz="2100" dirty="0"/>
          </a:p>
        </p:txBody>
      </p:sp>
      <p:sp>
        <p:nvSpPr>
          <p:cNvPr id="78" name="Text 75"/>
          <p:cNvSpPr/>
          <p:nvPr/>
        </p:nvSpPr>
        <p:spPr>
          <a:xfrm>
            <a:off x="7245482" y="9184481"/>
            <a:ext cx="1302147" cy="2608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AWGN σ</a:t>
            </a:r>
            <a:endParaRPr lang="en-US" sz="1350" dirty="0"/>
          </a:p>
        </p:txBody>
      </p:sp>
      <p:sp>
        <p:nvSpPr>
          <p:cNvPr id="79" name="Text 76"/>
          <p:cNvSpPr/>
          <p:nvPr/>
        </p:nvSpPr>
        <p:spPr>
          <a:xfrm>
            <a:off x="8774113" y="8862219"/>
            <a:ext cx="372136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80" name="Shape 77"/>
          <p:cNvSpPr/>
          <p:nvPr/>
        </p:nvSpPr>
        <p:spPr>
          <a:xfrm>
            <a:off x="9127199" y="8649494"/>
            <a:ext cx="1640814" cy="908050"/>
          </a:xfrm>
          <a:prstGeom prst="roundRect">
            <a:avLst>
              <a:gd name="adj" fmla="val 12587"/>
            </a:avLst>
          </a:prstGeom>
          <a:solidFill>
            <a:srgbClr val="7E0F32">
              <a:alpha val="10000"/>
            </a:srgbClr>
          </a:solidFill>
          <a:ln w="16933">
            <a:solidFill>
              <a:srgbClr val="88103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8"/>
          <p:cNvSpPr/>
          <p:nvPr/>
        </p:nvSpPr>
        <p:spPr>
          <a:xfrm>
            <a:off x="9296533" y="8799777"/>
            <a:ext cx="1302147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</a:t>
            </a:r>
            <a:endParaRPr lang="en-US" sz="2100" dirty="0"/>
          </a:p>
        </p:txBody>
      </p:sp>
      <p:sp>
        <p:nvSpPr>
          <p:cNvPr id="82" name="Text 79"/>
          <p:cNvSpPr/>
          <p:nvPr/>
        </p:nvSpPr>
        <p:spPr>
          <a:xfrm>
            <a:off x="9296533" y="9184481"/>
            <a:ext cx="1302147" cy="2608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{yᵢ, xᵢ}</a:t>
            </a:r>
            <a:endParaRPr lang="en-US" sz="1350" dirty="0"/>
          </a:p>
        </p:txBody>
      </p:sp>
      <p:sp>
        <p:nvSpPr>
          <p:cNvPr id="83" name="Text 80"/>
          <p:cNvSpPr/>
          <p:nvPr/>
        </p:nvSpPr>
        <p:spPr>
          <a:xfrm>
            <a:off x="10825163" y="8862219"/>
            <a:ext cx="372136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84" name="Shape 81"/>
          <p:cNvSpPr/>
          <p:nvPr/>
        </p:nvSpPr>
        <p:spPr>
          <a:xfrm>
            <a:off x="11178249" y="8649494"/>
            <a:ext cx="1640814" cy="908050"/>
          </a:xfrm>
          <a:prstGeom prst="roundRect">
            <a:avLst>
              <a:gd name="adj" fmla="val 12587"/>
            </a:avLst>
          </a:prstGeom>
          <a:solidFill>
            <a:srgbClr val="996D1A">
              <a:alpha val="10000"/>
            </a:srgbClr>
          </a:solidFill>
          <a:ln w="16933">
            <a:solidFill>
              <a:srgbClr val="A1721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2"/>
          <p:cNvSpPr/>
          <p:nvPr/>
        </p:nvSpPr>
        <p:spPr>
          <a:xfrm>
            <a:off x="11347583" y="8799777"/>
            <a:ext cx="1302147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</a:t>
            </a:r>
            <a:endParaRPr lang="en-US" sz="2100" dirty="0"/>
          </a:p>
        </p:txBody>
      </p:sp>
      <p:sp>
        <p:nvSpPr>
          <p:cNvPr id="86" name="Text 83"/>
          <p:cNvSpPr/>
          <p:nvPr/>
        </p:nvSpPr>
        <p:spPr>
          <a:xfrm>
            <a:off x="11347583" y="9184481"/>
            <a:ext cx="1302147" cy="2608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 patches</a:t>
            </a:r>
            <a:endParaRPr lang="en-US" sz="1350" dirty="0"/>
          </a:p>
        </p:txBody>
      </p:sp>
      <p:sp>
        <p:nvSpPr>
          <p:cNvPr id="87" name="Text 84"/>
          <p:cNvSpPr/>
          <p:nvPr/>
        </p:nvSpPr>
        <p:spPr>
          <a:xfrm>
            <a:off x="12876213" y="8862219"/>
            <a:ext cx="372136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88" name="Shape 85"/>
          <p:cNvSpPr/>
          <p:nvPr/>
        </p:nvSpPr>
        <p:spPr>
          <a:xfrm>
            <a:off x="13229299" y="8637058"/>
            <a:ext cx="2084784" cy="932921"/>
          </a:xfrm>
          <a:prstGeom prst="roundRect">
            <a:avLst>
              <a:gd name="adj" fmla="val 12252"/>
            </a:avLst>
          </a:prstGeom>
          <a:solidFill>
            <a:srgbClr val="32B8A9">
              <a:alpha val="18000"/>
            </a:srgbClr>
          </a:solidFill>
          <a:ln w="16933">
            <a:solidFill>
              <a:srgbClr val="3CD8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6"/>
          <p:cNvSpPr/>
          <p:nvPr/>
        </p:nvSpPr>
        <p:spPr>
          <a:xfrm>
            <a:off x="13436732" y="8787342"/>
            <a:ext cx="166991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DnCNN</a:t>
            </a:r>
            <a:endParaRPr lang="en-US" sz="2250" dirty="0"/>
          </a:p>
        </p:txBody>
      </p:sp>
      <p:sp>
        <p:nvSpPr>
          <p:cNvPr id="90" name="Text 87"/>
          <p:cNvSpPr/>
          <p:nvPr/>
        </p:nvSpPr>
        <p:spPr>
          <a:xfrm>
            <a:off x="13436732" y="9196917"/>
            <a:ext cx="1669918" cy="2608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R(y; Θ) → v̂</a:t>
            </a:r>
            <a:endParaRPr lang="en-US" sz="1350" dirty="0"/>
          </a:p>
        </p:txBody>
      </p:sp>
      <p:sp>
        <p:nvSpPr>
          <p:cNvPr id="91" name="Text 88"/>
          <p:cNvSpPr/>
          <p:nvPr/>
        </p:nvSpPr>
        <p:spPr>
          <a:xfrm>
            <a:off x="15371234" y="8862219"/>
            <a:ext cx="372136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92" name="Shape 89"/>
          <p:cNvSpPr/>
          <p:nvPr/>
        </p:nvSpPr>
        <p:spPr>
          <a:xfrm>
            <a:off x="15724320" y="8649494"/>
            <a:ext cx="1640814" cy="908050"/>
          </a:xfrm>
          <a:prstGeom prst="roundRect">
            <a:avLst>
              <a:gd name="adj" fmla="val 12587"/>
            </a:avLst>
          </a:prstGeom>
          <a:solidFill>
            <a:srgbClr val="32B8A9">
              <a:alpha val="10000"/>
            </a:srgbClr>
          </a:solidFill>
          <a:ln w="16933">
            <a:solidFill>
              <a:srgbClr val="3CD8C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0"/>
          <p:cNvSpPr/>
          <p:nvPr/>
        </p:nvSpPr>
        <p:spPr>
          <a:xfrm>
            <a:off x="15893653" y="8799777"/>
            <a:ext cx="1302147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endParaRPr lang="en-US" sz="2100" dirty="0"/>
          </a:p>
        </p:txBody>
      </p:sp>
      <p:sp>
        <p:nvSpPr>
          <p:cNvPr id="94" name="Text 91"/>
          <p:cNvSpPr/>
          <p:nvPr/>
        </p:nvSpPr>
        <p:spPr>
          <a:xfrm>
            <a:off x="15893653" y="9184481"/>
            <a:ext cx="1302147" cy="2608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MSE(v̂, v)</a:t>
            </a:r>
            <a:endParaRPr lang="en-US" sz="1350" dirty="0"/>
          </a:p>
        </p:txBody>
      </p:sp>
      <p:sp>
        <p:nvSpPr>
          <p:cNvPr id="95" name="Shape 92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Shape 93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7E0F32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Text 94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b="1" kern="0" spc="15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33</a:t>
            </a:r>
            <a:endParaRPr lang="en-US" sz="1650" dirty="0"/>
          </a:p>
        </p:txBody>
      </p:sp>
      <p:sp>
        <p:nvSpPr>
          <p:cNvPr id="98" name="Text 95"/>
          <p:cNvSpPr/>
          <p:nvPr/>
        </p:nvSpPr>
        <p:spPr>
          <a:xfrm>
            <a:off x="12002558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99" name="Text 96"/>
          <p:cNvSpPr/>
          <p:nvPr/>
        </p:nvSpPr>
        <p:spPr>
          <a:xfrm>
            <a:off x="12861660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00" name="Text 97"/>
          <p:cNvSpPr/>
          <p:nvPr/>
        </p:nvSpPr>
        <p:spPr>
          <a:xfrm>
            <a:off x="12977018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101" name="Text 98"/>
          <p:cNvSpPr/>
          <p:nvPr/>
        </p:nvSpPr>
        <p:spPr>
          <a:xfrm>
            <a:off x="13836121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02" name="Text 99"/>
          <p:cNvSpPr/>
          <p:nvPr/>
        </p:nvSpPr>
        <p:spPr>
          <a:xfrm>
            <a:off x="13951480" y="190500"/>
            <a:ext cx="1090348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FF9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103" name="Text 100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04" name="Text 101"/>
          <p:cNvSpPr/>
          <p:nvPr/>
        </p:nvSpPr>
        <p:spPr>
          <a:xfrm>
            <a:off x="15128610" y="203200"/>
            <a:ext cx="54954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105" name="Text 102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06" name="Text 103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107" name="Text 104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08" name="Text 105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  <p:sp>
        <p:nvSpPr>
          <p:cNvPr id="109" name="Shape 106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Shape 107"/>
          <p:cNvSpPr/>
          <p:nvPr/>
        </p:nvSpPr>
        <p:spPr>
          <a:xfrm>
            <a:off x="0" y="0"/>
            <a:ext cx="8068204" cy="57150"/>
          </a:xfrm>
          <a:prstGeom prst="rect">
            <a:avLst/>
          </a:prstGeom>
          <a:solidFill>
            <a:srgbClr val="7E0F32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Text 108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650" dirty="0"/>
          </a:p>
        </p:txBody>
      </p:sp>
      <p:sp>
        <p:nvSpPr>
          <p:cNvPr id="112" name="Text 109"/>
          <p:cNvSpPr/>
          <p:nvPr/>
        </p:nvSpPr>
        <p:spPr>
          <a:xfrm>
            <a:off x="12002558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113" name="Text 110"/>
          <p:cNvSpPr/>
          <p:nvPr/>
        </p:nvSpPr>
        <p:spPr>
          <a:xfrm>
            <a:off x="12861660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14" name="Text 111"/>
          <p:cNvSpPr/>
          <p:nvPr/>
        </p:nvSpPr>
        <p:spPr>
          <a:xfrm>
            <a:off x="12977018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115" name="Text 112"/>
          <p:cNvSpPr/>
          <p:nvPr/>
        </p:nvSpPr>
        <p:spPr>
          <a:xfrm>
            <a:off x="13836121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16" name="Text 113"/>
          <p:cNvSpPr/>
          <p:nvPr/>
        </p:nvSpPr>
        <p:spPr>
          <a:xfrm>
            <a:off x="13951480" y="190500"/>
            <a:ext cx="1090348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FF9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117" name="Text 114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18" name="Text 115"/>
          <p:cNvSpPr/>
          <p:nvPr/>
        </p:nvSpPr>
        <p:spPr>
          <a:xfrm>
            <a:off x="15128610" y="203200"/>
            <a:ext cx="54954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119" name="Text 116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20" name="Text 117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121" name="Text 118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22" name="Text 119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9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5808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kern="0" spc="150" dirty="0">
                <a:solidFill>
                  <a:srgbClr val="FF9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17580864" cy="708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Configuration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86952" y="3014504"/>
            <a:ext cx="4214813" cy="1361678"/>
          </a:xfrm>
          <a:prstGeom prst="roundRect">
            <a:avLst>
              <a:gd name="adj" fmla="val 9793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89423" y="3137271"/>
            <a:ext cx="4009872" cy="335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FUNCTION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89423" y="3491548"/>
            <a:ext cx="4009872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55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MSE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489423" y="3931550"/>
            <a:ext cx="4009872" cy="35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9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residual ‖R(y;Θ)−(y−x)‖²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4677965" y="3014504"/>
            <a:ext cx="4214813" cy="1361678"/>
          </a:xfrm>
          <a:prstGeom prst="roundRect">
            <a:avLst>
              <a:gd name="adj" fmla="val 9793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80435" y="3137271"/>
            <a:ext cx="4009872" cy="335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80435" y="3491548"/>
            <a:ext cx="4009872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550" b="1" dirty="0">
                <a:solidFill>
                  <a:srgbClr val="927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SGD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780435" y="3931550"/>
            <a:ext cx="4009872" cy="35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9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0.9 · WD 1e-4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386952" y="4452382"/>
            <a:ext cx="4214813" cy="1361678"/>
          </a:xfrm>
          <a:prstGeom prst="roundRect">
            <a:avLst>
              <a:gd name="adj" fmla="val 9793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9423" y="4575149"/>
            <a:ext cx="4009872" cy="335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 RATE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9423" y="4929426"/>
            <a:ext cx="4009872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550" b="1" dirty="0">
                <a:solidFill>
                  <a:srgbClr val="FF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1e⁻¹ → 1e⁻⁴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489423" y="5369428"/>
            <a:ext cx="4009872" cy="35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9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 decay / 50 ep.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4677965" y="4452382"/>
            <a:ext cx="4214813" cy="1361678"/>
          </a:xfrm>
          <a:prstGeom prst="roundRect">
            <a:avLst>
              <a:gd name="adj" fmla="val 9793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80435" y="4575149"/>
            <a:ext cx="4009872" cy="335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 SIZE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80435" y="4929426"/>
            <a:ext cx="4009872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550" b="1" dirty="0">
                <a:solidFill>
                  <a:srgbClr val="FFF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4780435" y="5369428"/>
            <a:ext cx="4009872" cy="35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9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mini-batch SGD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386952" y="5890261"/>
            <a:ext cx="4214813" cy="1361678"/>
          </a:xfrm>
          <a:prstGeom prst="roundRect">
            <a:avLst>
              <a:gd name="adj" fmla="val 9793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423" y="6013027"/>
            <a:ext cx="4009872" cy="335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INITIALIZATION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9423" y="6367304"/>
            <a:ext cx="4009872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et al.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489423" y="6807306"/>
            <a:ext cx="4009872" cy="35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9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 scaling for ReLU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4677965" y="5890261"/>
            <a:ext cx="4214813" cy="1361678"/>
          </a:xfrm>
          <a:prstGeom prst="roundRect">
            <a:avLst>
              <a:gd name="adj" fmla="val 9793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80435" y="6013027"/>
            <a:ext cx="4009872" cy="335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80435" y="6367304"/>
            <a:ext cx="4009872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MatConvNet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4780435" y="6807306"/>
            <a:ext cx="4009872" cy="3599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9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MATLAB-based CNN lib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9072241" y="2086081"/>
            <a:ext cx="8761000" cy="41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 Schedule</a:t>
            </a:r>
            <a:endParaRPr lang="en-US" sz="2550" dirty="0"/>
          </a:p>
        </p:txBody>
      </p:sp>
      <p:sp>
        <p:nvSpPr>
          <p:cNvPr id="29" name="Shape 27"/>
          <p:cNvSpPr/>
          <p:nvPr/>
        </p:nvSpPr>
        <p:spPr>
          <a:xfrm>
            <a:off x="9199828" y="2553732"/>
            <a:ext cx="8522758" cy="3797300"/>
          </a:xfrm>
          <a:prstGeom prst="roundRect">
            <a:avLst>
              <a:gd name="adj" fmla="val 3010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9828" y="2553732"/>
            <a:ext cx="8522758" cy="37973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9072241" y="6408182"/>
            <a:ext cx="8761000" cy="41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Time</a:t>
            </a:r>
            <a:endParaRPr lang="en-US" sz="2550" dirty="0"/>
          </a:p>
        </p:txBody>
      </p:sp>
      <p:sp>
        <p:nvSpPr>
          <p:cNvPr id="32" name="Text 29"/>
          <p:cNvSpPr/>
          <p:nvPr/>
        </p:nvSpPr>
        <p:spPr>
          <a:xfrm>
            <a:off x="8968978" y="6875833"/>
            <a:ext cx="992850" cy="478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DnCNN-S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10038028" y="6924517"/>
            <a:ext cx="7667625" cy="342900"/>
          </a:xfrm>
          <a:prstGeom prst="roundRect">
            <a:avLst>
              <a:gd name="adj" fmla="val 16667"/>
            </a:avLst>
          </a:prstGeom>
          <a:solidFill>
            <a:srgbClr val="1113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10038028" y="6924517"/>
            <a:ext cx="1245394" cy="342900"/>
          </a:xfrm>
          <a:prstGeom prst="roundRect">
            <a:avLst>
              <a:gd name="adj" fmla="val 16667"/>
            </a:avLst>
          </a:prstGeom>
          <a:solidFill>
            <a:srgbClr val="32B8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9961828" y="6924517"/>
            <a:ext cx="122634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FFFF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~6h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8968978" y="7401825"/>
            <a:ext cx="992850" cy="478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FF9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DnCNN-B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10038028" y="7450508"/>
            <a:ext cx="7667625" cy="342900"/>
          </a:xfrm>
          <a:prstGeom prst="roundRect">
            <a:avLst>
              <a:gd name="adj" fmla="val 16667"/>
            </a:avLst>
          </a:prstGeom>
          <a:solidFill>
            <a:srgbClr val="1113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10038028" y="7450508"/>
            <a:ext cx="3545681" cy="342900"/>
          </a:xfrm>
          <a:prstGeom prst="roundRect">
            <a:avLst>
              <a:gd name="adj" fmla="val 16667"/>
            </a:avLst>
          </a:prstGeom>
          <a:solidFill>
            <a:srgbClr val="7E0F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9931658" y="7450508"/>
            <a:ext cx="355680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FFFF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 day</a:t>
            </a:r>
            <a:endParaRPr lang="en-US" sz="1650" dirty="0"/>
          </a:p>
        </p:txBody>
      </p:sp>
      <p:sp>
        <p:nvSpPr>
          <p:cNvPr id="40" name="Text 37"/>
          <p:cNvSpPr/>
          <p:nvPr/>
        </p:nvSpPr>
        <p:spPr>
          <a:xfrm>
            <a:off x="8606102" y="7927817"/>
            <a:ext cx="1355726" cy="478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dirty="0">
                <a:solidFill>
                  <a:srgbClr val="FFFB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DnCNN-3</a:t>
            </a:r>
            <a:endParaRPr lang="en-US" sz="1500" dirty="0"/>
          </a:p>
        </p:txBody>
      </p:sp>
      <p:sp>
        <p:nvSpPr>
          <p:cNvPr id="41" name="Shape 38"/>
          <p:cNvSpPr/>
          <p:nvPr/>
        </p:nvSpPr>
        <p:spPr>
          <a:xfrm>
            <a:off x="10038028" y="7976500"/>
            <a:ext cx="7667625" cy="342900"/>
          </a:xfrm>
          <a:prstGeom prst="roundRect">
            <a:avLst>
              <a:gd name="adj" fmla="val 16667"/>
            </a:avLst>
          </a:prstGeom>
          <a:solidFill>
            <a:srgbClr val="1113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10038028" y="7976500"/>
            <a:ext cx="7762875" cy="342900"/>
          </a:xfrm>
          <a:prstGeom prst="roundRect">
            <a:avLst>
              <a:gd name="adj" fmla="val 16667"/>
            </a:avLst>
          </a:prstGeom>
          <a:solidFill>
            <a:srgbClr val="996D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9805142" y="7976500"/>
            <a:ext cx="790051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FFFF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 days</a:t>
            </a:r>
            <a:endParaRPr lang="en-US" sz="1650" dirty="0"/>
          </a:p>
        </p:txBody>
      </p:sp>
      <p:sp>
        <p:nvSpPr>
          <p:cNvPr id="44" name="Shape 41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0" y="0"/>
            <a:ext cx="9753468" cy="57150"/>
          </a:xfrm>
          <a:prstGeom prst="rect">
            <a:avLst/>
          </a:prstGeom>
          <a:solidFill>
            <a:srgbClr val="7E0F32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b="1" kern="0" spc="15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33</a:t>
            </a:r>
            <a:endParaRPr lang="en-US" sz="1650" dirty="0"/>
          </a:p>
        </p:txBody>
      </p:sp>
      <p:sp>
        <p:nvSpPr>
          <p:cNvPr id="47" name="Text 44"/>
          <p:cNvSpPr/>
          <p:nvPr/>
        </p:nvSpPr>
        <p:spPr>
          <a:xfrm>
            <a:off x="12002558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48" name="Text 45"/>
          <p:cNvSpPr/>
          <p:nvPr/>
        </p:nvSpPr>
        <p:spPr>
          <a:xfrm>
            <a:off x="12861660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9" name="Text 46"/>
          <p:cNvSpPr/>
          <p:nvPr/>
        </p:nvSpPr>
        <p:spPr>
          <a:xfrm>
            <a:off x="12977018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50" name="Text 47"/>
          <p:cNvSpPr/>
          <p:nvPr/>
        </p:nvSpPr>
        <p:spPr>
          <a:xfrm>
            <a:off x="13836121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1" name="Text 48"/>
          <p:cNvSpPr/>
          <p:nvPr/>
        </p:nvSpPr>
        <p:spPr>
          <a:xfrm>
            <a:off x="13951480" y="190500"/>
            <a:ext cx="1090348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FF9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52" name="Text 49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3" name="Text 50"/>
          <p:cNvSpPr/>
          <p:nvPr/>
        </p:nvSpPr>
        <p:spPr>
          <a:xfrm>
            <a:off x="15128610" y="203200"/>
            <a:ext cx="54954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54" name="Text 51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5" name="Text 52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56" name="Text 53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7" name="Text 54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  <p:sp>
        <p:nvSpPr>
          <p:cNvPr id="58" name="Shape 55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6"/>
          <p:cNvSpPr/>
          <p:nvPr/>
        </p:nvSpPr>
        <p:spPr>
          <a:xfrm>
            <a:off x="0" y="0"/>
            <a:ext cx="8606102" cy="57150"/>
          </a:xfrm>
          <a:prstGeom prst="rect">
            <a:avLst/>
          </a:prstGeom>
          <a:solidFill>
            <a:srgbClr val="7E0F32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650" dirty="0"/>
          </a:p>
        </p:txBody>
      </p:sp>
      <p:sp>
        <p:nvSpPr>
          <p:cNvPr id="61" name="Text 58"/>
          <p:cNvSpPr/>
          <p:nvPr/>
        </p:nvSpPr>
        <p:spPr>
          <a:xfrm>
            <a:off x="12002558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62" name="Text 59"/>
          <p:cNvSpPr/>
          <p:nvPr/>
        </p:nvSpPr>
        <p:spPr>
          <a:xfrm>
            <a:off x="12861660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63" name="Text 60"/>
          <p:cNvSpPr/>
          <p:nvPr/>
        </p:nvSpPr>
        <p:spPr>
          <a:xfrm>
            <a:off x="12977018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64" name="Text 61"/>
          <p:cNvSpPr/>
          <p:nvPr/>
        </p:nvSpPr>
        <p:spPr>
          <a:xfrm>
            <a:off x="13836121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65" name="Text 62"/>
          <p:cNvSpPr/>
          <p:nvPr/>
        </p:nvSpPr>
        <p:spPr>
          <a:xfrm>
            <a:off x="13951480" y="190500"/>
            <a:ext cx="1090348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FF9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66" name="Text 63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67" name="Text 64"/>
          <p:cNvSpPr/>
          <p:nvPr/>
        </p:nvSpPr>
        <p:spPr>
          <a:xfrm>
            <a:off x="15128610" y="203200"/>
            <a:ext cx="54954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68" name="Text 65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69" name="Text 66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70" name="Text 67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71" name="Text 68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  <p:sp>
        <p:nvSpPr>
          <p:cNvPr id="72" name="Shape 18">
            <a:extLst>
              <a:ext uri="{FF2B5EF4-FFF2-40B4-BE49-F238E27FC236}">
                <a16:creationId xmlns:a16="http://schemas.microsoft.com/office/drawing/2014/main" id="{D4701ABE-0610-CDA2-478C-07D7579CACB3}"/>
              </a:ext>
            </a:extLst>
          </p:cNvPr>
          <p:cNvSpPr/>
          <p:nvPr/>
        </p:nvSpPr>
        <p:spPr>
          <a:xfrm>
            <a:off x="386951" y="7354200"/>
            <a:ext cx="4214813" cy="1361678"/>
          </a:xfrm>
          <a:prstGeom prst="roundRect">
            <a:avLst>
              <a:gd name="adj" fmla="val 9793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pPr algn="ctr">
              <a:lnSpc>
                <a:spcPct val="130000"/>
              </a:lnSpc>
            </a:pPr>
            <a:r>
              <a:rPr lang="en-US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</a:t>
            </a:r>
            <a:endParaRPr lang="en-US" dirty="0"/>
          </a:p>
        </p:txBody>
      </p:sp>
      <p:sp>
        <p:nvSpPr>
          <p:cNvPr id="73" name="Shape 22">
            <a:extLst>
              <a:ext uri="{FF2B5EF4-FFF2-40B4-BE49-F238E27FC236}">
                <a16:creationId xmlns:a16="http://schemas.microsoft.com/office/drawing/2014/main" id="{81230C78-47B4-F93A-9A3A-C6743A885660}"/>
              </a:ext>
            </a:extLst>
          </p:cNvPr>
          <p:cNvSpPr/>
          <p:nvPr/>
        </p:nvSpPr>
        <p:spPr>
          <a:xfrm>
            <a:off x="4677965" y="7351713"/>
            <a:ext cx="4214813" cy="1361678"/>
          </a:xfrm>
          <a:prstGeom prst="roundRect">
            <a:avLst>
              <a:gd name="adj" fmla="val 9793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pPr algn="ctr">
              <a:lnSpc>
                <a:spcPct val="130000"/>
              </a:lnSpc>
            </a:pPr>
            <a:r>
              <a:rPr lang="en-US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</a:t>
            </a:r>
            <a:endParaRPr lang="en-US" dirty="0"/>
          </a:p>
        </p:txBody>
      </p:sp>
      <p:sp>
        <p:nvSpPr>
          <p:cNvPr id="76" name="Text 24">
            <a:extLst>
              <a:ext uri="{FF2B5EF4-FFF2-40B4-BE49-F238E27FC236}">
                <a16:creationId xmlns:a16="http://schemas.microsoft.com/office/drawing/2014/main" id="{CB319DC2-DDF0-89A9-03C0-9B7AD6EFBD07}"/>
              </a:ext>
            </a:extLst>
          </p:cNvPr>
          <p:cNvSpPr/>
          <p:nvPr/>
        </p:nvSpPr>
        <p:spPr>
          <a:xfrm>
            <a:off x="4760115" y="7830662"/>
            <a:ext cx="4009872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algn="ctr">
              <a:lnSpc>
                <a:spcPct val="130000"/>
              </a:lnSpc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Titan X GPU</a:t>
            </a:r>
            <a:endParaRPr lang="en-US" sz="2550" dirty="0"/>
          </a:p>
        </p:txBody>
      </p:sp>
      <p:sp>
        <p:nvSpPr>
          <p:cNvPr id="77" name="Text 20">
            <a:extLst>
              <a:ext uri="{FF2B5EF4-FFF2-40B4-BE49-F238E27FC236}">
                <a16:creationId xmlns:a16="http://schemas.microsoft.com/office/drawing/2014/main" id="{169FC2D3-703F-9701-ABF9-08E535229E29}"/>
              </a:ext>
            </a:extLst>
          </p:cNvPr>
          <p:cNvSpPr/>
          <p:nvPr/>
        </p:nvSpPr>
        <p:spPr>
          <a:xfrm>
            <a:off x="428681" y="7877864"/>
            <a:ext cx="4009872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Intel i7-5820K CPU @ 3.30GHz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b="6128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19">
            <a:extLst>
              <a:ext uri="{FF2B5EF4-FFF2-40B4-BE49-F238E27FC236}">
                <a16:creationId xmlns:a16="http://schemas.microsoft.com/office/drawing/2014/main" id="{0E4D72BB-97EA-26A7-9387-B8BE4C572D5A}"/>
              </a:ext>
            </a:extLst>
          </p:cNvPr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b="1" kern="0" spc="15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33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9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5808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kern="0" spc="150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17580864" cy="708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Metrics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87969" y="2510291"/>
            <a:ext cx="8505825" cy="2880519"/>
          </a:xfrm>
          <a:prstGeom prst="roundRect">
            <a:avLst>
              <a:gd name="adj" fmla="val 5291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4099" y="2703967"/>
            <a:ext cx="839037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PSNR (Peak Signal-to-Noise Ratio)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744099" y="3146879"/>
            <a:ext cx="8145992" cy="635000"/>
          </a:xfrm>
          <a:prstGeom prst="roundRect">
            <a:avLst>
              <a:gd name="adj" fmla="val 15000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39925" y="3269646"/>
            <a:ext cx="7954338" cy="427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PSNR = 10 · log₁₀(MAX² / MSE) dB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68889" y="3839029"/>
            <a:ext cx="8104621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= better · Standard metric for low-level vision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68889" y="4317131"/>
            <a:ext cx="8104621" cy="4675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dB improvement is considered </a:t>
            </a:r>
            <a:r>
              <a:rPr lang="en-US" sz="2550" b="1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68889" y="4803700"/>
            <a:ext cx="8104621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Pixel-wise — may not match visual perception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564182" y="5480769"/>
            <a:ext cx="8505825" cy="3210719"/>
          </a:xfrm>
          <a:prstGeom prst="roundRect">
            <a:avLst>
              <a:gd name="adj" fmla="val 4747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4099" y="5660686"/>
            <a:ext cx="839037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927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SSIM (Structural Similarity Index)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744099" y="6103598"/>
            <a:ext cx="8145992" cy="973667"/>
          </a:xfrm>
          <a:prstGeom prst="roundRect">
            <a:avLst>
              <a:gd name="adj" fmla="val 9783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9599" y="6429591"/>
            <a:ext cx="8390371" cy="462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SSIM(x, y) = f(luminance, contrast, structure)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68889" y="7134415"/>
            <a:ext cx="7997402" cy="141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[0, 1]: 1 = identical</a:t>
            </a:r>
            <a:endParaRPr lang="en-US" sz="25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Considers structural information, not just pixel error</a:t>
            </a:r>
            <a:endParaRPr lang="en-US" sz="25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correlates with human visual perception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0" y="2510291"/>
            <a:ext cx="8522758" cy="4834049"/>
          </a:xfrm>
          <a:prstGeom prst="roundRect">
            <a:avLst>
              <a:gd name="adj" fmla="val 2544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1530" y="2850657"/>
            <a:ext cx="8522758" cy="4493683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9144000" y="7429006"/>
            <a:ext cx="8505825" cy="1285839"/>
          </a:xfrm>
          <a:prstGeom prst="roundRect">
            <a:avLst>
              <a:gd name="adj" fmla="val 16873"/>
            </a:avLst>
          </a:prstGeom>
          <a:solidFill>
            <a:srgbClr val="2B1D80">
              <a:alpha val="12000"/>
            </a:srgbClr>
          </a:solidFill>
          <a:ln w="8467">
            <a:solidFill>
              <a:srgbClr val="2A1C7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182106" y="7780486"/>
            <a:ext cx="8429614" cy="582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DnCNN, few methods could beat BM3D by </a:t>
            </a:r>
            <a:r>
              <a:rPr lang="en-US" sz="1650" b="1" dirty="0">
                <a:solidFill>
                  <a:srgbClr val="FF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&gt;0.3 dB </a:t>
            </a:r>
            <a:r>
              <a:rPr lang="en-US" sz="16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average. DnCNN-S achieves </a:t>
            </a:r>
            <a:r>
              <a:rPr lang="en-US" sz="165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+0.6 dB </a:t>
            </a:r>
            <a:r>
              <a:rPr lang="en-US" sz="16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approaching the theoretical limit.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0" y="0"/>
            <a:ext cx="10972800" cy="57150"/>
          </a:xfrm>
          <a:prstGeom prst="rect">
            <a:avLst/>
          </a:prstGeom>
          <a:solidFill>
            <a:srgbClr val="32B8A9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b="1" kern="0" spc="15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33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1200242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12861528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1297688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15128610" y="190500"/>
            <a:ext cx="549540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  <p:sp>
        <p:nvSpPr>
          <p:cNvPr id="34" name="Shape 31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0" y="0"/>
            <a:ext cx="9681765" cy="57150"/>
          </a:xfrm>
          <a:prstGeom prst="rect">
            <a:avLst/>
          </a:prstGeom>
          <a:solidFill>
            <a:srgbClr val="32B8A9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650" dirty="0"/>
          </a:p>
        </p:txBody>
      </p:sp>
      <p:sp>
        <p:nvSpPr>
          <p:cNvPr id="37" name="Text 34"/>
          <p:cNvSpPr/>
          <p:nvPr/>
        </p:nvSpPr>
        <p:spPr>
          <a:xfrm>
            <a:off x="1200242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12861528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1297688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1" name="Text 38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42" name="Text 39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3" name="Text 40"/>
          <p:cNvSpPr/>
          <p:nvPr/>
        </p:nvSpPr>
        <p:spPr>
          <a:xfrm>
            <a:off x="15128610" y="190500"/>
            <a:ext cx="549540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44" name="Text 41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5" name="Text 42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46" name="Text 43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7" name="Text 44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9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5808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kern="0" spc="150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17580864" cy="708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Gaussian Denoising — BSD68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600" y="1375304"/>
            <a:ext cx="17580864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PSNR (dB) comparison · Table II in paper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556023" y="3866509"/>
            <a:ext cx="5666978" cy="16933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1273" y="3580759"/>
            <a:ext cx="564648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23001" y="3866509"/>
            <a:ext cx="1881717" cy="16933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80151" y="3580759"/>
            <a:ext cx="176741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kern="0" spc="75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= 15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104718" y="3866509"/>
            <a:ext cx="1895872" cy="16933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61868" y="3580759"/>
            <a:ext cx="178157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kern="0" spc="75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= 25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0000590" y="3866509"/>
            <a:ext cx="1896533" cy="16933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7740" y="3580759"/>
            <a:ext cx="178223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kern="0" spc="75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= 50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56023" y="4421076"/>
            <a:ext cx="5666978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1273" y="3940593"/>
            <a:ext cx="5646487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BM3D </a:t>
            </a:r>
            <a:r>
              <a:rPr lang="en-US" sz="2550" i="1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[Dabov '07]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6223001" y="4421076"/>
            <a:ext cx="1881717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80151" y="3940593"/>
            <a:ext cx="1767417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31.07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8104718" y="4421076"/>
            <a:ext cx="1895872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161868" y="3940593"/>
            <a:ext cx="1781572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28.57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0000590" y="4421076"/>
            <a:ext cx="1896533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057740" y="3940593"/>
            <a:ext cx="1782233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25.62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556023" y="4967176"/>
            <a:ext cx="5666978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1273" y="4486693"/>
            <a:ext cx="5646487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WNNM </a:t>
            </a:r>
            <a:r>
              <a:rPr lang="en-US" sz="2550" i="1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[Gu '14]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6223001" y="4967176"/>
            <a:ext cx="1881717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80151" y="4486693"/>
            <a:ext cx="1767417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31.37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8104718" y="4967176"/>
            <a:ext cx="1895872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161868" y="4486693"/>
            <a:ext cx="1781572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28.83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0000590" y="4967176"/>
            <a:ext cx="1896533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057740" y="4486693"/>
            <a:ext cx="1782233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25.87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556023" y="5513276"/>
            <a:ext cx="5666978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1273" y="5032793"/>
            <a:ext cx="5646487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EPLL </a:t>
            </a:r>
            <a:r>
              <a:rPr lang="en-US" sz="2550" i="1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[Zoran '11]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6223001" y="5513276"/>
            <a:ext cx="1881717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80151" y="5032793"/>
            <a:ext cx="1767417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31.21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8104718" y="5513276"/>
            <a:ext cx="1895872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161868" y="5032793"/>
            <a:ext cx="1781572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28.68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10000590" y="5513276"/>
            <a:ext cx="1896533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057740" y="5032793"/>
            <a:ext cx="1782233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25.67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556023" y="6059376"/>
            <a:ext cx="5666978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51273" y="5578893"/>
            <a:ext cx="5646487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</a:t>
            </a:r>
            <a:r>
              <a:rPr lang="en-US" sz="2550" i="1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[Burger '12]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6223001" y="6059376"/>
            <a:ext cx="1881717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280151" y="5578893"/>
            <a:ext cx="1767417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100" dirty="0"/>
          </a:p>
        </p:txBody>
      </p:sp>
      <p:sp>
        <p:nvSpPr>
          <p:cNvPr id="41" name="Shape 39"/>
          <p:cNvSpPr/>
          <p:nvPr/>
        </p:nvSpPr>
        <p:spPr>
          <a:xfrm>
            <a:off x="8104718" y="6059376"/>
            <a:ext cx="1895872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161868" y="5578893"/>
            <a:ext cx="1781572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28.96</a:t>
            </a:r>
            <a:endParaRPr lang="en-US" sz="2100" dirty="0"/>
          </a:p>
        </p:txBody>
      </p:sp>
      <p:sp>
        <p:nvSpPr>
          <p:cNvPr id="43" name="Shape 41"/>
          <p:cNvSpPr/>
          <p:nvPr/>
        </p:nvSpPr>
        <p:spPr>
          <a:xfrm>
            <a:off x="10000590" y="6059376"/>
            <a:ext cx="1896533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057740" y="5578893"/>
            <a:ext cx="1782233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26.03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556023" y="6605476"/>
            <a:ext cx="5666978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51273" y="6124993"/>
            <a:ext cx="5646487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TNRD </a:t>
            </a:r>
            <a:r>
              <a:rPr lang="en-US" sz="2550" i="1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[Chen '16]</a:t>
            </a:r>
            <a:endParaRPr lang="en-US" sz="2100" dirty="0"/>
          </a:p>
        </p:txBody>
      </p:sp>
      <p:sp>
        <p:nvSpPr>
          <p:cNvPr id="47" name="Shape 45"/>
          <p:cNvSpPr/>
          <p:nvPr/>
        </p:nvSpPr>
        <p:spPr>
          <a:xfrm>
            <a:off x="6223001" y="6605476"/>
            <a:ext cx="1881717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280151" y="6124993"/>
            <a:ext cx="1767417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31.42</a:t>
            </a:r>
            <a:endParaRPr lang="en-US" sz="2100" dirty="0"/>
          </a:p>
        </p:txBody>
      </p:sp>
      <p:sp>
        <p:nvSpPr>
          <p:cNvPr id="49" name="Shape 47"/>
          <p:cNvSpPr/>
          <p:nvPr/>
        </p:nvSpPr>
        <p:spPr>
          <a:xfrm>
            <a:off x="8104718" y="6605476"/>
            <a:ext cx="1895872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161868" y="6124993"/>
            <a:ext cx="1781572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28.92</a:t>
            </a:r>
            <a:endParaRPr lang="en-US" sz="2100" dirty="0"/>
          </a:p>
        </p:txBody>
      </p:sp>
      <p:sp>
        <p:nvSpPr>
          <p:cNvPr id="51" name="Shape 49"/>
          <p:cNvSpPr/>
          <p:nvPr/>
        </p:nvSpPr>
        <p:spPr>
          <a:xfrm>
            <a:off x="10000590" y="6605476"/>
            <a:ext cx="1896533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0057740" y="6124993"/>
            <a:ext cx="1782233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25.97</a:t>
            </a:r>
            <a:endParaRPr lang="en-US" sz="2100" dirty="0"/>
          </a:p>
        </p:txBody>
      </p:sp>
      <p:sp>
        <p:nvSpPr>
          <p:cNvPr id="53" name="Shape 51"/>
          <p:cNvSpPr/>
          <p:nvPr/>
        </p:nvSpPr>
        <p:spPr>
          <a:xfrm>
            <a:off x="556023" y="6613943"/>
            <a:ext cx="11341100" cy="469900"/>
          </a:xfrm>
          <a:prstGeom prst="rect">
            <a:avLst/>
          </a:prstGeom>
          <a:solidFill>
            <a:srgbClr val="32B8A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56023" y="7075376"/>
            <a:ext cx="5666978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51273" y="6671093"/>
            <a:ext cx="5646487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DnCNN-S</a:t>
            </a:r>
            <a:endParaRPr lang="en-US" sz="2100" dirty="0"/>
          </a:p>
        </p:txBody>
      </p:sp>
      <p:sp>
        <p:nvSpPr>
          <p:cNvPr id="56" name="Shape 54"/>
          <p:cNvSpPr/>
          <p:nvPr/>
        </p:nvSpPr>
        <p:spPr>
          <a:xfrm>
            <a:off x="6223001" y="6613943"/>
            <a:ext cx="1881717" cy="469900"/>
          </a:xfrm>
          <a:prstGeom prst="roundRect">
            <a:avLst>
              <a:gd name="adj" fmla="val 12162"/>
            </a:avLst>
          </a:prstGeom>
          <a:solidFill>
            <a:srgbClr val="32B8A9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223001" y="7075376"/>
            <a:ext cx="1881717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280151" y="6671093"/>
            <a:ext cx="1767417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31.73</a:t>
            </a:r>
            <a:endParaRPr lang="en-US" sz="2100" dirty="0"/>
          </a:p>
        </p:txBody>
      </p:sp>
      <p:sp>
        <p:nvSpPr>
          <p:cNvPr id="59" name="Shape 57"/>
          <p:cNvSpPr/>
          <p:nvPr/>
        </p:nvSpPr>
        <p:spPr>
          <a:xfrm>
            <a:off x="8104718" y="6613943"/>
            <a:ext cx="1895872" cy="469900"/>
          </a:xfrm>
          <a:prstGeom prst="roundRect">
            <a:avLst>
              <a:gd name="adj" fmla="val 12162"/>
            </a:avLst>
          </a:prstGeom>
          <a:solidFill>
            <a:srgbClr val="32B8A9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104718" y="7075376"/>
            <a:ext cx="1895872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8161868" y="6671093"/>
            <a:ext cx="1781572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29.23</a:t>
            </a:r>
            <a:endParaRPr lang="en-US" sz="2100" dirty="0"/>
          </a:p>
        </p:txBody>
      </p:sp>
      <p:sp>
        <p:nvSpPr>
          <p:cNvPr id="62" name="Shape 60"/>
          <p:cNvSpPr/>
          <p:nvPr/>
        </p:nvSpPr>
        <p:spPr>
          <a:xfrm>
            <a:off x="10000590" y="6613943"/>
            <a:ext cx="1896533" cy="469900"/>
          </a:xfrm>
          <a:prstGeom prst="roundRect">
            <a:avLst>
              <a:gd name="adj" fmla="val 12162"/>
            </a:avLst>
          </a:prstGeom>
          <a:solidFill>
            <a:srgbClr val="32B8A9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0000590" y="7075376"/>
            <a:ext cx="1896533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0057740" y="6671093"/>
            <a:ext cx="1782233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26.23</a:t>
            </a:r>
            <a:endParaRPr lang="en-US" sz="2100" dirty="0"/>
          </a:p>
        </p:txBody>
      </p:sp>
      <p:sp>
        <p:nvSpPr>
          <p:cNvPr id="65" name="Shape 63"/>
          <p:cNvSpPr/>
          <p:nvPr/>
        </p:nvSpPr>
        <p:spPr>
          <a:xfrm>
            <a:off x="556023" y="7083843"/>
            <a:ext cx="11341100" cy="461433"/>
          </a:xfrm>
          <a:prstGeom prst="rect">
            <a:avLst/>
          </a:prstGeom>
          <a:solidFill>
            <a:srgbClr val="2B1D80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51273" y="7140993"/>
            <a:ext cx="5646487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27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DnCNN-B </a:t>
            </a:r>
            <a:r>
              <a:rPr lang="en-US" sz="180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(blind)</a:t>
            </a:r>
            <a:endParaRPr lang="en-US" sz="2100" dirty="0"/>
          </a:p>
        </p:txBody>
      </p:sp>
      <p:sp>
        <p:nvSpPr>
          <p:cNvPr id="67" name="Text 65"/>
          <p:cNvSpPr/>
          <p:nvPr/>
        </p:nvSpPr>
        <p:spPr>
          <a:xfrm>
            <a:off x="6280151" y="7140993"/>
            <a:ext cx="1767417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927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31.61</a:t>
            </a:r>
            <a:endParaRPr lang="en-US" sz="2100" dirty="0"/>
          </a:p>
        </p:txBody>
      </p:sp>
      <p:sp>
        <p:nvSpPr>
          <p:cNvPr id="68" name="Text 66"/>
          <p:cNvSpPr/>
          <p:nvPr/>
        </p:nvSpPr>
        <p:spPr>
          <a:xfrm>
            <a:off x="8161868" y="7140993"/>
            <a:ext cx="1781572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927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29.16</a:t>
            </a:r>
            <a:endParaRPr lang="en-US" sz="2100" dirty="0"/>
          </a:p>
        </p:txBody>
      </p:sp>
      <p:sp>
        <p:nvSpPr>
          <p:cNvPr id="69" name="Text 67"/>
          <p:cNvSpPr/>
          <p:nvPr/>
        </p:nvSpPr>
        <p:spPr>
          <a:xfrm>
            <a:off x="10057740" y="7140993"/>
            <a:ext cx="1782233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927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26.23</a:t>
            </a:r>
            <a:endParaRPr lang="en-US" sz="2100" dirty="0"/>
          </a:p>
        </p:txBody>
      </p:sp>
      <p:sp>
        <p:nvSpPr>
          <p:cNvPr id="70" name="Shape 68"/>
          <p:cNvSpPr/>
          <p:nvPr/>
        </p:nvSpPr>
        <p:spPr>
          <a:xfrm>
            <a:off x="12111151" y="4095485"/>
            <a:ext cx="5670550" cy="1689365"/>
          </a:xfrm>
          <a:prstGeom prst="roundRect">
            <a:avLst>
              <a:gd name="adj" fmla="val 9021"/>
            </a:avLst>
          </a:prstGeom>
          <a:solidFill>
            <a:srgbClr val="2B1D80">
              <a:alpha val="12000"/>
            </a:srgbClr>
          </a:solidFill>
          <a:ln w="8467">
            <a:solidFill>
              <a:srgbClr val="2A1C7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12211407" y="4275401"/>
            <a:ext cx="547003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950" dirty="0">
                <a:solidFill>
                  <a:srgbClr val="8C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+0.6 dB</a:t>
            </a:r>
            <a:endParaRPr lang="en-US" sz="4950" dirty="0"/>
          </a:p>
        </p:txBody>
      </p:sp>
      <p:sp>
        <p:nvSpPr>
          <p:cNvPr id="72" name="Text 70"/>
          <p:cNvSpPr/>
          <p:nvPr/>
        </p:nvSpPr>
        <p:spPr>
          <a:xfrm>
            <a:off x="12211407" y="4961201"/>
            <a:ext cx="5470038" cy="681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9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DnCNN-S over BM3D at all noise levels</a:t>
            </a:r>
            <a:endParaRPr lang="en-US" sz="1950" dirty="0"/>
          </a:p>
        </p:txBody>
      </p:sp>
      <p:sp>
        <p:nvSpPr>
          <p:cNvPr id="73" name="Shape 71"/>
          <p:cNvSpPr/>
          <p:nvPr/>
        </p:nvSpPr>
        <p:spPr>
          <a:xfrm>
            <a:off x="12111151" y="5861049"/>
            <a:ext cx="5670550" cy="889265"/>
          </a:xfrm>
          <a:prstGeom prst="roundRect">
            <a:avLst>
              <a:gd name="adj" fmla="val 14996"/>
            </a:avLst>
          </a:prstGeom>
          <a:solidFill>
            <a:srgbClr val="996D1A">
              <a:alpha val="6000"/>
            </a:srgbClr>
          </a:solidFill>
          <a:ln w="8467">
            <a:solidFill>
              <a:srgbClr val="A1721C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12191785" y="5983816"/>
            <a:ext cx="5509281" cy="681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950" dirty="0">
                <a:solidFill>
                  <a:srgbClr val="FFF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DnCNN-B (blind, unknown σ) still beats all noise-specific competitors</a:t>
            </a:r>
            <a:endParaRPr lang="en-US" sz="1950" dirty="0"/>
          </a:p>
        </p:txBody>
      </p:sp>
      <p:sp>
        <p:nvSpPr>
          <p:cNvPr id="75" name="Shape 73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0" y="0"/>
            <a:ext cx="11582267" cy="57150"/>
          </a:xfrm>
          <a:prstGeom prst="rect">
            <a:avLst/>
          </a:prstGeom>
          <a:solidFill>
            <a:srgbClr val="32B8A9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b="1" kern="0" spc="15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33</a:t>
            </a:r>
            <a:endParaRPr lang="en-US" sz="1650" dirty="0"/>
          </a:p>
        </p:txBody>
      </p:sp>
      <p:sp>
        <p:nvSpPr>
          <p:cNvPr id="78" name="Text 76"/>
          <p:cNvSpPr/>
          <p:nvPr/>
        </p:nvSpPr>
        <p:spPr>
          <a:xfrm>
            <a:off x="1200242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79" name="Text 77"/>
          <p:cNvSpPr/>
          <p:nvPr/>
        </p:nvSpPr>
        <p:spPr>
          <a:xfrm>
            <a:off x="12861528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80" name="Text 78"/>
          <p:cNvSpPr/>
          <p:nvPr/>
        </p:nvSpPr>
        <p:spPr>
          <a:xfrm>
            <a:off x="1297688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81" name="Text 79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82" name="Text 80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83" name="Text 81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84" name="Text 82"/>
          <p:cNvSpPr/>
          <p:nvPr/>
        </p:nvSpPr>
        <p:spPr>
          <a:xfrm>
            <a:off x="15128610" y="190500"/>
            <a:ext cx="549540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85" name="Text 83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86" name="Text 84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87" name="Text 85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88" name="Text 86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  <p:sp>
        <p:nvSpPr>
          <p:cNvPr id="89" name="Shape 87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0" y="0"/>
            <a:ext cx="10219663" cy="57150"/>
          </a:xfrm>
          <a:prstGeom prst="rect">
            <a:avLst/>
          </a:prstGeom>
          <a:solidFill>
            <a:srgbClr val="32B8A9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650" dirty="0"/>
          </a:p>
        </p:txBody>
      </p:sp>
      <p:sp>
        <p:nvSpPr>
          <p:cNvPr id="92" name="Text 90"/>
          <p:cNvSpPr/>
          <p:nvPr/>
        </p:nvSpPr>
        <p:spPr>
          <a:xfrm>
            <a:off x="1200242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93" name="Text 91"/>
          <p:cNvSpPr/>
          <p:nvPr/>
        </p:nvSpPr>
        <p:spPr>
          <a:xfrm>
            <a:off x="12861528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94" name="Text 92"/>
          <p:cNvSpPr/>
          <p:nvPr/>
        </p:nvSpPr>
        <p:spPr>
          <a:xfrm>
            <a:off x="1297688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95" name="Text 93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96" name="Text 94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97" name="Text 95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98" name="Text 96"/>
          <p:cNvSpPr/>
          <p:nvPr/>
        </p:nvSpPr>
        <p:spPr>
          <a:xfrm>
            <a:off x="15128610" y="190500"/>
            <a:ext cx="549540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99" name="Text 97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00" name="Text 98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101" name="Text 99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02" name="Text 100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09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5808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kern="0" spc="150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600" y="815573"/>
            <a:ext cx="17580864" cy="708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Per-Image Analysis — σ = 25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411480" y="3891222"/>
            <a:ext cx="1770592" cy="16933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6730" y="3605472"/>
            <a:ext cx="165629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182072" y="3891222"/>
            <a:ext cx="1298575" cy="16933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39222" y="3605472"/>
            <a:ext cx="11842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kern="0" spc="75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BM3D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480647" y="3891222"/>
            <a:ext cx="1309820" cy="16933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37797" y="3605472"/>
            <a:ext cx="11955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kern="0" spc="75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WNNM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90467" y="3891222"/>
            <a:ext cx="1298575" cy="16933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7617" y="3605472"/>
            <a:ext cx="11842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kern="0" spc="75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TNRD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89042" y="3891222"/>
            <a:ext cx="1409568" cy="16933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46192" y="3605472"/>
            <a:ext cx="129526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kern="0" spc="75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DNCNN-S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498609" y="3891222"/>
            <a:ext cx="1418696" cy="16933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555759" y="3605472"/>
            <a:ext cx="13043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kern="0" spc="75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 BM3D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11480" y="4386522"/>
            <a:ext cx="1770592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6730" y="3965306"/>
            <a:ext cx="1656292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C.man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2182072" y="4386522"/>
            <a:ext cx="1298575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239222" y="3965306"/>
            <a:ext cx="1184275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29.45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3480647" y="4386522"/>
            <a:ext cx="1309820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37797" y="3965306"/>
            <a:ext cx="1195520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29.64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4790467" y="4386522"/>
            <a:ext cx="1298575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7617" y="3965306"/>
            <a:ext cx="1184275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29.72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6089042" y="3908156"/>
            <a:ext cx="1409568" cy="486833"/>
          </a:xfrm>
          <a:prstGeom prst="roundRect">
            <a:avLst>
              <a:gd name="adj" fmla="val 11739"/>
            </a:avLst>
          </a:prstGeom>
          <a:solidFill>
            <a:srgbClr val="32B8A9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89042" y="4386522"/>
            <a:ext cx="1409568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46192" y="3965306"/>
            <a:ext cx="1295268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30.18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7498609" y="4386522"/>
            <a:ext cx="1418696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555759" y="3965306"/>
            <a:ext cx="1304396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+0.73</a:t>
            </a:r>
            <a:endParaRPr lang="en-US" sz="2250" dirty="0"/>
          </a:p>
        </p:txBody>
      </p:sp>
      <p:sp>
        <p:nvSpPr>
          <p:cNvPr id="29" name="Shape 27"/>
          <p:cNvSpPr/>
          <p:nvPr/>
        </p:nvSpPr>
        <p:spPr>
          <a:xfrm>
            <a:off x="411480" y="4873356"/>
            <a:ext cx="1770592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6730" y="4452139"/>
            <a:ext cx="1656292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2182072" y="4873356"/>
            <a:ext cx="1298575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239222" y="4452139"/>
            <a:ext cx="1184275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32.85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3480647" y="4394989"/>
            <a:ext cx="1309820" cy="486833"/>
          </a:xfrm>
          <a:prstGeom prst="roundRect">
            <a:avLst>
              <a:gd name="adj" fmla="val 11739"/>
            </a:avLst>
          </a:prstGeom>
          <a:solidFill>
            <a:srgbClr val="32B8A9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480647" y="4873356"/>
            <a:ext cx="1309820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537797" y="4452139"/>
            <a:ext cx="1195520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33.22</a:t>
            </a:r>
            <a:endParaRPr lang="en-US" sz="2250" dirty="0"/>
          </a:p>
        </p:txBody>
      </p:sp>
      <p:sp>
        <p:nvSpPr>
          <p:cNvPr id="36" name="Shape 34"/>
          <p:cNvSpPr/>
          <p:nvPr/>
        </p:nvSpPr>
        <p:spPr>
          <a:xfrm>
            <a:off x="4790467" y="4873356"/>
            <a:ext cx="1298575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47617" y="4452139"/>
            <a:ext cx="1184275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32.53</a:t>
            </a:r>
            <a:endParaRPr lang="en-US" sz="2250" dirty="0"/>
          </a:p>
        </p:txBody>
      </p:sp>
      <p:sp>
        <p:nvSpPr>
          <p:cNvPr id="38" name="Shape 36"/>
          <p:cNvSpPr/>
          <p:nvPr/>
        </p:nvSpPr>
        <p:spPr>
          <a:xfrm>
            <a:off x="6089042" y="4873356"/>
            <a:ext cx="1409568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146192" y="4452139"/>
            <a:ext cx="1295268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33.06</a:t>
            </a:r>
            <a:endParaRPr lang="en-US" sz="2250" dirty="0"/>
          </a:p>
        </p:txBody>
      </p:sp>
      <p:sp>
        <p:nvSpPr>
          <p:cNvPr id="40" name="Shape 38"/>
          <p:cNvSpPr/>
          <p:nvPr/>
        </p:nvSpPr>
        <p:spPr>
          <a:xfrm>
            <a:off x="7498609" y="4873356"/>
            <a:ext cx="1418696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555759" y="4452139"/>
            <a:ext cx="1304396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+0.21</a:t>
            </a:r>
            <a:endParaRPr lang="en-US" sz="2250" dirty="0"/>
          </a:p>
        </p:txBody>
      </p:sp>
      <p:sp>
        <p:nvSpPr>
          <p:cNvPr id="42" name="Shape 40"/>
          <p:cNvSpPr/>
          <p:nvPr/>
        </p:nvSpPr>
        <p:spPr>
          <a:xfrm>
            <a:off x="411480" y="4881822"/>
            <a:ext cx="8505825" cy="486833"/>
          </a:xfrm>
          <a:prstGeom prst="rect">
            <a:avLst/>
          </a:prstGeom>
          <a:solidFill>
            <a:srgbClr val="7E0F32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11480" y="5360189"/>
            <a:ext cx="1770592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06730" y="4938972"/>
            <a:ext cx="1656292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Barbara</a:t>
            </a:r>
            <a:endParaRPr lang="en-US" sz="2250" dirty="0"/>
          </a:p>
        </p:txBody>
      </p:sp>
      <p:sp>
        <p:nvSpPr>
          <p:cNvPr id="45" name="Shape 43"/>
          <p:cNvSpPr/>
          <p:nvPr/>
        </p:nvSpPr>
        <p:spPr>
          <a:xfrm>
            <a:off x="2182072" y="5360189"/>
            <a:ext cx="1298575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239222" y="4938972"/>
            <a:ext cx="1184275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30.71</a:t>
            </a:r>
            <a:endParaRPr lang="en-US" sz="2250" dirty="0"/>
          </a:p>
        </p:txBody>
      </p:sp>
      <p:sp>
        <p:nvSpPr>
          <p:cNvPr id="47" name="Shape 45"/>
          <p:cNvSpPr/>
          <p:nvPr/>
        </p:nvSpPr>
        <p:spPr>
          <a:xfrm>
            <a:off x="3480647" y="4881822"/>
            <a:ext cx="1309820" cy="486833"/>
          </a:xfrm>
          <a:prstGeom prst="roundRect">
            <a:avLst>
              <a:gd name="adj" fmla="val 11739"/>
            </a:avLst>
          </a:prstGeom>
          <a:solidFill>
            <a:srgbClr val="32B8A9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3480647" y="5360189"/>
            <a:ext cx="1309820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537797" y="4938972"/>
            <a:ext cx="1195520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31.24</a:t>
            </a:r>
            <a:endParaRPr lang="en-US" sz="2250" dirty="0"/>
          </a:p>
        </p:txBody>
      </p:sp>
      <p:sp>
        <p:nvSpPr>
          <p:cNvPr id="50" name="Shape 48"/>
          <p:cNvSpPr/>
          <p:nvPr/>
        </p:nvSpPr>
        <p:spPr>
          <a:xfrm>
            <a:off x="4790467" y="5360189"/>
            <a:ext cx="1298575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47617" y="4938972"/>
            <a:ext cx="1184275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29.41</a:t>
            </a:r>
            <a:endParaRPr lang="en-US" sz="2250" dirty="0"/>
          </a:p>
        </p:txBody>
      </p:sp>
      <p:sp>
        <p:nvSpPr>
          <p:cNvPr id="52" name="Shape 50"/>
          <p:cNvSpPr/>
          <p:nvPr/>
        </p:nvSpPr>
        <p:spPr>
          <a:xfrm>
            <a:off x="6089042" y="5360189"/>
            <a:ext cx="1409568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146192" y="4938972"/>
            <a:ext cx="1295268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30.00</a:t>
            </a:r>
            <a:endParaRPr lang="en-US" sz="2250" dirty="0"/>
          </a:p>
        </p:txBody>
      </p:sp>
      <p:sp>
        <p:nvSpPr>
          <p:cNvPr id="54" name="Shape 52"/>
          <p:cNvSpPr/>
          <p:nvPr/>
        </p:nvSpPr>
        <p:spPr>
          <a:xfrm>
            <a:off x="7498609" y="5360189"/>
            <a:ext cx="1418696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555759" y="4938972"/>
            <a:ext cx="1304396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−0.71</a:t>
            </a:r>
            <a:endParaRPr lang="en-US" sz="2250" dirty="0"/>
          </a:p>
        </p:txBody>
      </p:sp>
      <p:sp>
        <p:nvSpPr>
          <p:cNvPr id="56" name="Shape 54"/>
          <p:cNvSpPr/>
          <p:nvPr/>
        </p:nvSpPr>
        <p:spPr>
          <a:xfrm>
            <a:off x="411480" y="5847022"/>
            <a:ext cx="1770592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06730" y="5425806"/>
            <a:ext cx="1656292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Parrot</a:t>
            </a:r>
            <a:endParaRPr lang="en-US" sz="2250" dirty="0"/>
          </a:p>
        </p:txBody>
      </p:sp>
      <p:sp>
        <p:nvSpPr>
          <p:cNvPr id="58" name="Shape 56"/>
          <p:cNvSpPr/>
          <p:nvPr/>
        </p:nvSpPr>
        <p:spPr>
          <a:xfrm>
            <a:off x="2182072" y="5847022"/>
            <a:ext cx="1298575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239222" y="5425806"/>
            <a:ext cx="1184275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28.93</a:t>
            </a:r>
            <a:endParaRPr lang="en-US" sz="2250" dirty="0"/>
          </a:p>
        </p:txBody>
      </p:sp>
      <p:sp>
        <p:nvSpPr>
          <p:cNvPr id="60" name="Shape 58"/>
          <p:cNvSpPr/>
          <p:nvPr/>
        </p:nvSpPr>
        <p:spPr>
          <a:xfrm>
            <a:off x="3480647" y="5847022"/>
            <a:ext cx="1309820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537797" y="5425806"/>
            <a:ext cx="1195520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29.15</a:t>
            </a:r>
            <a:endParaRPr lang="en-US" sz="2250" dirty="0"/>
          </a:p>
        </p:txBody>
      </p:sp>
      <p:sp>
        <p:nvSpPr>
          <p:cNvPr id="62" name="Shape 60"/>
          <p:cNvSpPr/>
          <p:nvPr/>
        </p:nvSpPr>
        <p:spPr>
          <a:xfrm>
            <a:off x="4790467" y="5847022"/>
            <a:ext cx="1298575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847617" y="5425806"/>
            <a:ext cx="1184275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29.18</a:t>
            </a:r>
            <a:endParaRPr lang="en-US" sz="2250" dirty="0"/>
          </a:p>
        </p:txBody>
      </p:sp>
      <p:sp>
        <p:nvSpPr>
          <p:cNvPr id="64" name="Shape 62"/>
          <p:cNvSpPr/>
          <p:nvPr/>
        </p:nvSpPr>
        <p:spPr>
          <a:xfrm>
            <a:off x="6089042" y="5368656"/>
            <a:ext cx="1409568" cy="486833"/>
          </a:xfrm>
          <a:prstGeom prst="roundRect">
            <a:avLst>
              <a:gd name="adj" fmla="val 11739"/>
            </a:avLst>
          </a:prstGeom>
          <a:solidFill>
            <a:srgbClr val="32B8A9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6089042" y="5847022"/>
            <a:ext cx="1409568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146192" y="5425806"/>
            <a:ext cx="1295268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29.43</a:t>
            </a:r>
            <a:endParaRPr lang="en-US" sz="2250" dirty="0"/>
          </a:p>
        </p:txBody>
      </p:sp>
      <p:sp>
        <p:nvSpPr>
          <p:cNvPr id="67" name="Shape 65"/>
          <p:cNvSpPr/>
          <p:nvPr/>
        </p:nvSpPr>
        <p:spPr>
          <a:xfrm>
            <a:off x="7498609" y="5847022"/>
            <a:ext cx="1418696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555759" y="5425806"/>
            <a:ext cx="1304396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+0.50</a:t>
            </a:r>
            <a:endParaRPr lang="en-US" sz="2250" dirty="0"/>
          </a:p>
        </p:txBody>
      </p:sp>
      <p:sp>
        <p:nvSpPr>
          <p:cNvPr id="69" name="Shape 67"/>
          <p:cNvSpPr/>
          <p:nvPr/>
        </p:nvSpPr>
        <p:spPr>
          <a:xfrm>
            <a:off x="411480" y="5855489"/>
            <a:ext cx="8505825" cy="478367"/>
          </a:xfrm>
          <a:prstGeom prst="rect">
            <a:avLst/>
          </a:prstGeom>
          <a:solidFill>
            <a:srgbClr val="32B8A9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06730" y="5912639"/>
            <a:ext cx="1656292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(12)</a:t>
            </a:r>
            <a:endParaRPr lang="en-US" sz="2250" dirty="0"/>
          </a:p>
        </p:txBody>
      </p:sp>
      <p:sp>
        <p:nvSpPr>
          <p:cNvPr id="71" name="Text 69"/>
          <p:cNvSpPr/>
          <p:nvPr/>
        </p:nvSpPr>
        <p:spPr>
          <a:xfrm>
            <a:off x="2239222" y="5912639"/>
            <a:ext cx="1184275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29.97</a:t>
            </a:r>
            <a:endParaRPr lang="en-US" sz="2250" dirty="0"/>
          </a:p>
        </p:txBody>
      </p:sp>
      <p:sp>
        <p:nvSpPr>
          <p:cNvPr id="72" name="Text 70"/>
          <p:cNvSpPr/>
          <p:nvPr/>
        </p:nvSpPr>
        <p:spPr>
          <a:xfrm>
            <a:off x="3537797" y="5912639"/>
            <a:ext cx="1195520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30.26</a:t>
            </a:r>
            <a:endParaRPr lang="en-US" sz="2250" dirty="0"/>
          </a:p>
        </p:txBody>
      </p:sp>
      <p:sp>
        <p:nvSpPr>
          <p:cNvPr id="73" name="Text 71"/>
          <p:cNvSpPr/>
          <p:nvPr/>
        </p:nvSpPr>
        <p:spPr>
          <a:xfrm>
            <a:off x="4847617" y="5912639"/>
            <a:ext cx="1184275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30.06</a:t>
            </a:r>
            <a:endParaRPr lang="en-US" sz="2250" dirty="0"/>
          </a:p>
        </p:txBody>
      </p:sp>
      <p:sp>
        <p:nvSpPr>
          <p:cNvPr id="74" name="Shape 72"/>
          <p:cNvSpPr/>
          <p:nvPr/>
        </p:nvSpPr>
        <p:spPr>
          <a:xfrm>
            <a:off x="6089042" y="5855489"/>
            <a:ext cx="1409568" cy="478367"/>
          </a:xfrm>
          <a:prstGeom prst="roundRect">
            <a:avLst>
              <a:gd name="adj" fmla="val 11947"/>
            </a:avLst>
          </a:prstGeom>
          <a:solidFill>
            <a:srgbClr val="32B8A9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146192" y="5912639"/>
            <a:ext cx="1295268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30.44</a:t>
            </a:r>
            <a:endParaRPr lang="en-US" sz="2250" dirty="0"/>
          </a:p>
        </p:txBody>
      </p:sp>
      <p:sp>
        <p:nvSpPr>
          <p:cNvPr id="76" name="Text 74"/>
          <p:cNvSpPr/>
          <p:nvPr/>
        </p:nvSpPr>
        <p:spPr>
          <a:xfrm>
            <a:off x="7555759" y="5912639"/>
            <a:ext cx="1304396" cy="402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+0.47</a:t>
            </a:r>
            <a:endParaRPr lang="en-US" sz="2250" dirty="0"/>
          </a:p>
        </p:txBody>
      </p:sp>
      <p:sp>
        <p:nvSpPr>
          <p:cNvPr id="77" name="Shape 75"/>
          <p:cNvSpPr/>
          <p:nvPr/>
        </p:nvSpPr>
        <p:spPr>
          <a:xfrm>
            <a:off x="9144000" y="3381766"/>
            <a:ext cx="8505825" cy="1642666"/>
          </a:xfrm>
          <a:prstGeom prst="roundRect">
            <a:avLst>
              <a:gd name="adj" fmla="val 8118"/>
            </a:avLst>
          </a:prstGeom>
          <a:solidFill>
            <a:srgbClr val="1113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9172575" y="3011027"/>
            <a:ext cx="8505825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9172575" y="1413404"/>
            <a:ext cx="8505825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9088756" y="3394588"/>
            <a:ext cx="33867" cy="1642666"/>
          </a:xfrm>
          <a:prstGeom prst="rect">
            <a:avLst/>
          </a:prstGeom>
          <a:solidFill>
            <a:srgbClr val="3CD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17669933" y="1413404"/>
            <a:ext cx="9525" cy="1642666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9330267" y="3504533"/>
            <a:ext cx="8403452" cy="41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5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2550" dirty="0"/>
          </a:p>
        </p:txBody>
      </p:sp>
      <p:sp>
        <p:nvSpPr>
          <p:cNvPr id="83" name="Text 81"/>
          <p:cNvSpPr/>
          <p:nvPr/>
        </p:nvSpPr>
        <p:spPr>
          <a:xfrm>
            <a:off x="9170247" y="3915034"/>
            <a:ext cx="8394912" cy="1024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on most images at all σ</a:t>
            </a:r>
            <a:endParaRPr lang="en-US" sz="18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+0.2–0.6 dB on textured images</a:t>
            </a:r>
            <a:endParaRPr lang="en-US" sz="18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 edges + clean smooth regions</a:t>
            </a:r>
            <a:endParaRPr lang="en-US" sz="1800" dirty="0"/>
          </a:p>
        </p:txBody>
      </p:sp>
      <p:sp>
        <p:nvSpPr>
          <p:cNvPr id="84" name="Shape 82"/>
          <p:cNvSpPr/>
          <p:nvPr/>
        </p:nvSpPr>
        <p:spPr>
          <a:xfrm>
            <a:off x="9144000" y="5100632"/>
            <a:ext cx="8505825" cy="1642666"/>
          </a:xfrm>
          <a:prstGeom prst="roundRect">
            <a:avLst>
              <a:gd name="adj" fmla="val 8118"/>
            </a:avLst>
          </a:prstGeom>
          <a:solidFill>
            <a:srgbClr val="1113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9144000" y="6734831"/>
            <a:ext cx="8505825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9172575" y="3095694"/>
            <a:ext cx="8505825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9088756" y="5064686"/>
            <a:ext cx="33867" cy="1642666"/>
          </a:xfrm>
          <a:prstGeom prst="rect">
            <a:avLst/>
          </a:prstGeom>
          <a:solidFill>
            <a:srgbClr val="8810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17669933" y="3095694"/>
            <a:ext cx="9525" cy="1642666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9260757" y="5210979"/>
            <a:ext cx="8403452" cy="41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50" b="1" dirty="0">
                <a:solidFill>
                  <a:srgbClr val="FF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Struggles</a:t>
            </a:r>
            <a:endParaRPr lang="en-US" sz="2550" dirty="0"/>
          </a:p>
        </p:txBody>
      </p:sp>
      <p:sp>
        <p:nvSpPr>
          <p:cNvPr id="90" name="Text 88"/>
          <p:cNvSpPr/>
          <p:nvPr/>
        </p:nvSpPr>
        <p:spPr>
          <a:xfrm>
            <a:off x="9170247" y="5633900"/>
            <a:ext cx="8394912" cy="1024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Barbara/House: repetitive patterns</a:t>
            </a:r>
            <a:endParaRPr lang="en-US" sz="18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Non-local methods (WNNM) win here</a:t>
            </a:r>
            <a:endParaRPr lang="en-US" sz="18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DnCNN lacks non-local prior</a:t>
            </a:r>
            <a:endParaRPr lang="en-US" sz="1800" dirty="0"/>
          </a:p>
        </p:txBody>
      </p:sp>
      <p:sp>
        <p:nvSpPr>
          <p:cNvPr id="91" name="Shape 89"/>
          <p:cNvSpPr/>
          <p:nvPr/>
        </p:nvSpPr>
        <p:spPr>
          <a:xfrm>
            <a:off x="9144000" y="6819498"/>
            <a:ext cx="8505825" cy="1087437"/>
          </a:xfrm>
          <a:prstGeom prst="roundRect">
            <a:avLst>
              <a:gd name="adj" fmla="val 12263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9182106" y="6942264"/>
            <a:ext cx="8429614" cy="88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5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Irregular textures → </a:t>
            </a:r>
            <a:r>
              <a:rPr lang="en-US" sz="2550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DnCNN wins </a:t>
            </a:r>
            <a:r>
              <a:rPr lang="en-US" sz="25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patterns → </a:t>
            </a:r>
            <a:r>
              <a:rPr lang="en-US" sz="2550" dirty="0">
                <a:solidFill>
                  <a:srgbClr val="FF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non-local wins</a:t>
            </a:r>
            <a:endParaRPr lang="en-US" sz="2550" dirty="0"/>
          </a:p>
        </p:txBody>
      </p:sp>
      <p:sp>
        <p:nvSpPr>
          <p:cNvPr id="93" name="Shape 91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B8A9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b="1" kern="0" spc="15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33</a:t>
            </a:r>
            <a:endParaRPr lang="en-US" sz="1650" dirty="0"/>
          </a:p>
        </p:txBody>
      </p:sp>
      <p:sp>
        <p:nvSpPr>
          <p:cNvPr id="96" name="Text 94"/>
          <p:cNvSpPr/>
          <p:nvPr/>
        </p:nvSpPr>
        <p:spPr>
          <a:xfrm>
            <a:off x="1200242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97" name="Text 95"/>
          <p:cNvSpPr/>
          <p:nvPr/>
        </p:nvSpPr>
        <p:spPr>
          <a:xfrm>
            <a:off x="12861528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98" name="Text 96"/>
          <p:cNvSpPr/>
          <p:nvPr/>
        </p:nvSpPr>
        <p:spPr>
          <a:xfrm>
            <a:off x="1297688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99" name="Text 97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00" name="Text 98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101" name="Text 99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02" name="Text 100"/>
          <p:cNvSpPr/>
          <p:nvPr/>
        </p:nvSpPr>
        <p:spPr>
          <a:xfrm>
            <a:off x="15128610" y="190500"/>
            <a:ext cx="549540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103" name="Text 101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04" name="Text 102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105" name="Text 103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06" name="Text 104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  <p:sp>
        <p:nvSpPr>
          <p:cNvPr id="107" name="Shape 105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0" y="0"/>
            <a:ext cx="10757562" cy="57150"/>
          </a:xfrm>
          <a:prstGeom prst="rect">
            <a:avLst/>
          </a:prstGeom>
          <a:solidFill>
            <a:srgbClr val="32B8A9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650" dirty="0"/>
          </a:p>
        </p:txBody>
      </p:sp>
      <p:sp>
        <p:nvSpPr>
          <p:cNvPr id="110" name="Text 108"/>
          <p:cNvSpPr/>
          <p:nvPr/>
        </p:nvSpPr>
        <p:spPr>
          <a:xfrm>
            <a:off x="1200242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111" name="Text 109"/>
          <p:cNvSpPr/>
          <p:nvPr/>
        </p:nvSpPr>
        <p:spPr>
          <a:xfrm>
            <a:off x="12861528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12" name="Text 110"/>
          <p:cNvSpPr/>
          <p:nvPr/>
        </p:nvSpPr>
        <p:spPr>
          <a:xfrm>
            <a:off x="1297688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113" name="Text 111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14" name="Text 112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115" name="Text 113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16" name="Text 114"/>
          <p:cNvSpPr/>
          <p:nvPr/>
        </p:nvSpPr>
        <p:spPr>
          <a:xfrm>
            <a:off x="15128610" y="190500"/>
            <a:ext cx="549540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117" name="Text 115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18" name="Text 116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119" name="Text 117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20" name="Text 118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09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5808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kern="0" spc="150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17580864" cy="708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Quality Comparison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600" y="1375304"/>
            <a:ext cx="17580864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 analysis at σ = 50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609600" y="2774771"/>
            <a:ext cx="17068800" cy="4762500"/>
          </a:xfrm>
          <a:prstGeom prst="roundRect">
            <a:avLst>
              <a:gd name="adj" fmla="val 2000"/>
            </a:avLst>
          </a:prstGeom>
          <a:solidFill>
            <a:srgbClr val="1A1A19"/>
          </a:solidFill>
          <a:ln w="8467">
            <a:solidFill>
              <a:srgbClr val="3B3B39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" y="1967344"/>
            <a:ext cx="17068800" cy="71170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3568" y="9084348"/>
            <a:ext cx="17580864" cy="708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100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 4 — Castle at σ=50: BM3D over-smooths, TNRD has artifacts, DnCNN-S/B preserve edges + clean smooth areas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0" y="0"/>
            <a:ext cx="12801600" cy="57150"/>
          </a:xfrm>
          <a:prstGeom prst="rect">
            <a:avLst/>
          </a:prstGeom>
          <a:solidFill>
            <a:srgbClr val="32B8A9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b="1" kern="0" spc="15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33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200242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12861528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1297688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15128610" y="190500"/>
            <a:ext cx="549540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  <p:sp>
        <p:nvSpPr>
          <p:cNvPr id="22" name="Shape 19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0" y="0"/>
            <a:ext cx="11295459" cy="57150"/>
          </a:xfrm>
          <a:prstGeom prst="rect">
            <a:avLst/>
          </a:prstGeom>
          <a:solidFill>
            <a:srgbClr val="32B8A9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200242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12861528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1297688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15128610" y="190500"/>
            <a:ext cx="549540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09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5808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kern="0" spc="150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17580864" cy="708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 Image Denoising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600" y="1314344"/>
            <a:ext cx="17580864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CDnCNN-B vs CBM3D — σ = 35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609600" y="1853406"/>
            <a:ext cx="17068800" cy="7401190"/>
          </a:xfrm>
          <a:prstGeom prst="roundRect">
            <a:avLst>
              <a:gd name="adj" fmla="val 1287"/>
            </a:avLst>
          </a:prstGeom>
          <a:solidFill>
            <a:srgbClr val="1A1A19"/>
          </a:solidFill>
          <a:ln w="8467">
            <a:solidFill>
              <a:srgbClr val="3B3B39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" y="1853406"/>
            <a:ext cx="17068800" cy="7401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3568" y="9292696"/>
            <a:ext cx="17580864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100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 6 — CDnCNN-B produces more natural color and sharper detail than CBM3D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0" y="0"/>
            <a:ext cx="11833358" cy="57150"/>
          </a:xfrm>
          <a:prstGeom prst="rect">
            <a:avLst/>
          </a:prstGeom>
          <a:solidFill>
            <a:srgbClr val="32B8A9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33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200242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12861528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1297688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15128610" y="190500"/>
            <a:ext cx="549540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09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5808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kern="0" spc="150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17580864" cy="708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Quality — Parrot (σ = 25)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600" y="1375304"/>
            <a:ext cx="17068800" cy="7879292"/>
          </a:xfrm>
          <a:prstGeom prst="roundRect">
            <a:avLst>
              <a:gd name="adj" fmla="val 1209"/>
            </a:avLst>
          </a:prstGeom>
          <a:solidFill>
            <a:srgbClr val="1A1A19"/>
          </a:solidFill>
          <a:ln w="8467">
            <a:solidFill>
              <a:srgbClr val="3B3B39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" y="1375304"/>
            <a:ext cx="17068800" cy="78792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53568" y="9292696"/>
            <a:ext cx="17580864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100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 5 — DnCNN preserves fine detail around the eye while keeping smooth regions clean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0" y="0"/>
            <a:ext cx="12371255" cy="57150"/>
          </a:xfrm>
          <a:prstGeom prst="rect">
            <a:avLst/>
          </a:prstGeom>
          <a:solidFill>
            <a:srgbClr val="32B8A9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33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200242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12861528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1297688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15128610" y="190500"/>
            <a:ext cx="549540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09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5808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kern="0" spc="150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17580864" cy="708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Blind &amp; Multi-Task Performance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600" y="1818217"/>
            <a:ext cx="87610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927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DnCNN-B: Blind Denoising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609600" y="2261130"/>
            <a:ext cx="8522758" cy="6651222"/>
          </a:xfrm>
          <a:prstGeom prst="roundRect">
            <a:avLst>
              <a:gd name="adj" fmla="val 2544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425" y="2841890"/>
            <a:ext cx="8307800" cy="44936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5350" y="6831013"/>
            <a:ext cx="8475250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noise estimation step needed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895350" y="7309115"/>
            <a:ext cx="8475250" cy="4675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</a:t>
            </a:r>
            <a:r>
              <a:rPr lang="en-US" sz="2550" b="1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increases </a:t>
            </a: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noise level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895350" y="7795684"/>
            <a:ext cx="8475250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model simplifies deployment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9209151" y="1737032"/>
            <a:ext cx="87610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DnCNN-3: One Model, Three Tasks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9199219" y="2252197"/>
            <a:ext cx="8505825" cy="1428772"/>
          </a:xfrm>
          <a:prstGeom prst="roundRect">
            <a:avLst>
              <a:gd name="adj" fmla="val 14078"/>
            </a:avLst>
          </a:prstGeom>
          <a:solidFill>
            <a:srgbClr val="2B1D80">
              <a:alpha val="12000"/>
            </a:srgbClr>
          </a:solidFill>
          <a:ln w="8467">
            <a:solidFill>
              <a:srgbClr val="2A1C7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328336" y="2467419"/>
            <a:ext cx="8429614" cy="739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model </a:t>
            </a:r>
            <a:r>
              <a:rPr lang="en-US" sz="2400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or beats task-specific SOTA across all three tasks.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0" y="0"/>
            <a:ext cx="13411067" cy="57150"/>
          </a:xfrm>
          <a:prstGeom prst="rect">
            <a:avLst/>
          </a:prstGeom>
          <a:solidFill>
            <a:srgbClr val="32B8A9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b="1" kern="0" spc="15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33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200242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12861528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1297688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15128610" y="190500"/>
            <a:ext cx="549540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  <p:sp>
        <p:nvSpPr>
          <p:cNvPr id="27" name="Shape 24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0" y="0"/>
            <a:ext cx="12909153" cy="57150"/>
          </a:xfrm>
          <a:prstGeom prst="rect">
            <a:avLst/>
          </a:prstGeom>
          <a:solidFill>
            <a:srgbClr val="32B8A9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650" dirty="0"/>
          </a:p>
        </p:txBody>
      </p:sp>
      <p:sp>
        <p:nvSpPr>
          <p:cNvPr id="30" name="Text 27"/>
          <p:cNvSpPr/>
          <p:nvPr/>
        </p:nvSpPr>
        <p:spPr>
          <a:xfrm>
            <a:off x="1200242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12861528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1297688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6" name="Text 33"/>
          <p:cNvSpPr/>
          <p:nvPr/>
        </p:nvSpPr>
        <p:spPr>
          <a:xfrm>
            <a:off x="15128610" y="190500"/>
            <a:ext cx="549540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37" name="Text 34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09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5808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kern="0" spc="150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17580864" cy="708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Super-Resolution — DnCNN-3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600" y="1338728"/>
            <a:ext cx="17580864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model handles ×2, ×3, ×4 upscaling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609600" y="1853406"/>
            <a:ext cx="17068800" cy="7401190"/>
          </a:xfrm>
          <a:prstGeom prst="roundRect">
            <a:avLst>
              <a:gd name="adj" fmla="val 1287"/>
            </a:avLst>
          </a:prstGeom>
          <a:solidFill>
            <a:srgbClr val="1A1A19"/>
          </a:solidFill>
          <a:ln w="8467">
            <a:solidFill>
              <a:srgbClr val="3B3B39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" y="1853406"/>
            <a:ext cx="17068800" cy="7401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3568" y="9292696"/>
            <a:ext cx="17580864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100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 9 — SR ×3: DnCNN-3 (30.02 dB) outperforms TNRD (28.91 dB) and matches VDSR (29.95 dB)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0" y="0"/>
            <a:ext cx="13447051" cy="57150"/>
          </a:xfrm>
          <a:prstGeom prst="rect">
            <a:avLst/>
          </a:prstGeom>
          <a:solidFill>
            <a:srgbClr val="32B8A9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/ 33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200242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12861528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1297688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15128610" y="190500"/>
            <a:ext cx="549540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09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5808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kern="0" spc="150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17580864" cy="708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JPEG Deblocking — DnCNN-3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600" y="1326536"/>
            <a:ext cx="17580864" cy="45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compression artifacts with a single multi-task model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609600" y="1853406"/>
            <a:ext cx="17068800" cy="7401190"/>
          </a:xfrm>
          <a:prstGeom prst="roundRect">
            <a:avLst>
              <a:gd name="adj" fmla="val 1287"/>
            </a:avLst>
          </a:prstGeom>
          <a:solidFill>
            <a:srgbClr val="1A1A19"/>
          </a:solidFill>
          <a:ln w="8467">
            <a:solidFill>
              <a:srgbClr val="3B3B39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" y="1853406"/>
            <a:ext cx="17068800" cy="7401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3568" y="9292696"/>
            <a:ext cx="17580864" cy="384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100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 11 — JPEG QF 10: DnCNN-3 (29.70 dB) removes blocking artifacts better than AR-CNN and TNRD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0" y="0"/>
            <a:ext cx="13984817" cy="57150"/>
          </a:xfrm>
          <a:prstGeom prst="rect">
            <a:avLst/>
          </a:prstGeom>
          <a:solidFill>
            <a:srgbClr val="32B8A9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/ 33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200242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12861528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1297688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15128610" y="190500"/>
            <a:ext cx="549540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b="5320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 74">
            <a:extLst>
              <a:ext uri="{FF2B5EF4-FFF2-40B4-BE49-F238E27FC236}">
                <a16:creationId xmlns:a16="http://schemas.microsoft.com/office/drawing/2014/main" id="{F5E1D45F-3CA2-991B-C5A1-374DD40234B9}"/>
              </a:ext>
            </a:extLst>
          </p:cNvPr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b="1" kern="0" spc="15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/ 33</a:t>
            </a:r>
            <a:endParaRPr lang="en-US" sz="16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09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5808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kern="0" spc="150" dirty="0">
                <a:solidFill>
                  <a:srgbClr val="FFFB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COMPLEXITY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17580864" cy="708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Runtime &amp; Computational Efficiency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14350" y="4155683"/>
            <a:ext cx="4641453" cy="16933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09600" y="3869933"/>
            <a:ext cx="459019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kern="0" spc="75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155803" y="4155683"/>
            <a:ext cx="2178315" cy="16933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212953" y="3869933"/>
            <a:ext cx="206401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kern="0" spc="75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256²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34118" y="4155683"/>
            <a:ext cx="2158868" cy="16933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91268" y="3869933"/>
            <a:ext cx="204456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kern="0" spc="75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512²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492986" y="4155683"/>
            <a:ext cx="2362465" cy="16933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550136" y="3869933"/>
            <a:ext cx="22481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kern="0" spc="75" dirty="0">
                <a:solidFill>
                  <a:srgbClr val="D3C5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1024²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14350" y="4600183"/>
            <a:ext cx="4641453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9600" y="4229767"/>
            <a:ext cx="4590197" cy="351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BM3D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155803" y="4600183"/>
            <a:ext cx="2178315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12953" y="4229767"/>
            <a:ext cx="2064015" cy="351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0.65s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334118" y="4600183"/>
            <a:ext cx="2158868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91268" y="4229767"/>
            <a:ext cx="2044568" cy="351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2.85s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492986" y="4600183"/>
            <a:ext cx="2362465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550136" y="4229767"/>
            <a:ext cx="2248165" cy="351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11.89s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514350" y="5036216"/>
            <a:ext cx="4641453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9600" y="4665800"/>
            <a:ext cx="4590197" cy="351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WNNM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5155803" y="5036216"/>
            <a:ext cx="2178315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212953" y="4665800"/>
            <a:ext cx="2064015" cy="351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203s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7334118" y="5036216"/>
            <a:ext cx="2158868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91268" y="4665800"/>
            <a:ext cx="2044568" cy="351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773s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492986" y="5036216"/>
            <a:ext cx="2362465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550136" y="4665800"/>
            <a:ext cx="2248165" cy="351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2536s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514350" y="5472250"/>
            <a:ext cx="4641453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09600" y="5101833"/>
            <a:ext cx="4590197" cy="351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EPLL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5155803" y="5472250"/>
            <a:ext cx="2178315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12953" y="5101833"/>
            <a:ext cx="2064015" cy="351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25.4s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7334118" y="5472250"/>
            <a:ext cx="2158868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391268" y="5101833"/>
            <a:ext cx="2044568" cy="351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45.5s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492986" y="5472250"/>
            <a:ext cx="2362465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550136" y="5101833"/>
            <a:ext cx="2248165" cy="351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422s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514350" y="5908283"/>
            <a:ext cx="4641453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09600" y="5537867"/>
            <a:ext cx="4590197" cy="351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TNRD </a:t>
            </a:r>
            <a:r>
              <a:rPr lang="en-US" sz="180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(GPU)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5155803" y="5908283"/>
            <a:ext cx="2178315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212953" y="5537867"/>
            <a:ext cx="2064015" cy="351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0.010s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7334118" y="5908283"/>
            <a:ext cx="2158868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391268" y="5537867"/>
            <a:ext cx="2044568" cy="351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0.032s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9492986" y="5908283"/>
            <a:ext cx="2362465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550136" y="5537867"/>
            <a:ext cx="2248165" cy="351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0.116s</a:t>
            </a:r>
            <a:endParaRPr lang="en-US" sz="2100" dirty="0"/>
          </a:p>
        </p:txBody>
      </p:sp>
      <p:sp>
        <p:nvSpPr>
          <p:cNvPr id="44" name="Shape 42"/>
          <p:cNvSpPr/>
          <p:nvPr/>
        </p:nvSpPr>
        <p:spPr>
          <a:xfrm>
            <a:off x="514350" y="5916750"/>
            <a:ext cx="11341100" cy="469900"/>
          </a:xfrm>
          <a:prstGeom prst="rect">
            <a:avLst/>
          </a:prstGeom>
          <a:solidFill>
            <a:srgbClr val="32B8A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14350" y="6378183"/>
            <a:ext cx="4641453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09600" y="5973900"/>
            <a:ext cx="4590197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DnCNN-S </a:t>
            </a:r>
            <a:r>
              <a:rPr lang="en-US" sz="180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(GPU)</a:t>
            </a:r>
            <a:endParaRPr lang="en-US" sz="2100" dirty="0"/>
          </a:p>
        </p:txBody>
      </p:sp>
      <p:sp>
        <p:nvSpPr>
          <p:cNvPr id="47" name="Shape 45"/>
          <p:cNvSpPr/>
          <p:nvPr/>
        </p:nvSpPr>
        <p:spPr>
          <a:xfrm>
            <a:off x="5155803" y="5916750"/>
            <a:ext cx="2178315" cy="469900"/>
          </a:xfrm>
          <a:prstGeom prst="roundRect">
            <a:avLst>
              <a:gd name="adj" fmla="val 12162"/>
            </a:avLst>
          </a:prstGeom>
          <a:solidFill>
            <a:srgbClr val="32B8A9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155803" y="6378183"/>
            <a:ext cx="2178315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212953" y="5973900"/>
            <a:ext cx="2064015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0.014s</a:t>
            </a:r>
            <a:endParaRPr lang="en-US" sz="2100" dirty="0"/>
          </a:p>
        </p:txBody>
      </p:sp>
      <p:sp>
        <p:nvSpPr>
          <p:cNvPr id="50" name="Shape 48"/>
          <p:cNvSpPr/>
          <p:nvPr/>
        </p:nvSpPr>
        <p:spPr>
          <a:xfrm>
            <a:off x="7334118" y="5916750"/>
            <a:ext cx="2158868" cy="469900"/>
          </a:xfrm>
          <a:prstGeom prst="roundRect">
            <a:avLst>
              <a:gd name="adj" fmla="val 12162"/>
            </a:avLst>
          </a:prstGeom>
          <a:solidFill>
            <a:srgbClr val="32B8A9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334118" y="6378183"/>
            <a:ext cx="2158868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391268" y="5973900"/>
            <a:ext cx="2044568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0.051s</a:t>
            </a:r>
            <a:endParaRPr lang="en-US" sz="2100" dirty="0"/>
          </a:p>
        </p:txBody>
      </p:sp>
      <p:sp>
        <p:nvSpPr>
          <p:cNvPr id="53" name="Shape 51"/>
          <p:cNvSpPr/>
          <p:nvPr/>
        </p:nvSpPr>
        <p:spPr>
          <a:xfrm>
            <a:off x="9492986" y="5916750"/>
            <a:ext cx="2362465" cy="469900"/>
          </a:xfrm>
          <a:prstGeom prst="roundRect">
            <a:avLst>
              <a:gd name="adj" fmla="val 12162"/>
            </a:avLst>
          </a:prstGeom>
          <a:solidFill>
            <a:srgbClr val="32B8A9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9492986" y="6378183"/>
            <a:ext cx="2362465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9550136" y="5973900"/>
            <a:ext cx="2248165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0.200s</a:t>
            </a:r>
            <a:endParaRPr lang="en-US" sz="2100" dirty="0"/>
          </a:p>
        </p:txBody>
      </p:sp>
      <p:sp>
        <p:nvSpPr>
          <p:cNvPr id="56" name="Shape 54"/>
          <p:cNvSpPr/>
          <p:nvPr/>
        </p:nvSpPr>
        <p:spPr>
          <a:xfrm>
            <a:off x="514350" y="6386650"/>
            <a:ext cx="11341100" cy="461433"/>
          </a:xfrm>
          <a:prstGeom prst="rect">
            <a:avLst/>
          </a:prstGeom>
          <a:solidFill>
            <a:srgbClr val="2B1D80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09600" y="6443800"/>
            <a:ext cx="4590197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927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DnCNN-B </a:t>
            </a:r>
            <a:r>
              <a:rPr lang="en-US" sz="180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(GPU)</a:t>
            </a:r>
            <a:endParaRPr lang="en-US" sz="2100" dirty="0"/>
          </a:p>
        </p:txBody>
      </p:sp>
      <p:sp>
        <p:nvSpPr>
          <p:cNvPr id="58" name="Text 56"/>
          <p:cNvSpPr/>
          <p:nvPr/>
        </p:nvSpPr>
        <p:spPr>
          <a:xfrm>
            <a:off x="5212953" y="6443800"/>
            <a:ext cx="2064015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927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0.016s</a:t>
            </a:r>
            <a:endParaRPr lang="en-US" sz="2100" dirty="0"/>
          </a:p>
        </p:txBody>
      </p:sp>
      <p:sp>
        <p:nvSpPr>
          <p:cNvPr id="59" name="Text 57"/>
          <p:cNvSpPr/>
          <p:nvPr/>
        </p:nvSpPr>
        <p:spPr>
          <a:xfrm>
            <a:off x="7391268" y="6443800"/>
            <a:ext cx="2044568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927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0.060s</a:t>
            </a:r>
            <a:endParaRPr lang="en-US" sz="2100" dirty="0"/>
          </a:p>
        </p:txBody>
      </p:sp>
      <p:sp>
        <p:nvSpPr>
          <p:cNvPr id="60" name="Text 58"/>
          <p:cNvSpPr/>
          <p:nvPr/>
        </p:nvSpPr>
        <p:spPr>
          <a:xfrm>
            <a:off x="9550136" y="6443800"/>
            <a:ext cx="2248165" cy="385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927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0.235s</a:t>
            </a:r>
            <a:endParaRPr lang="en-US" sz="2100" dirty="0"/>
          </a:p>
        </p:txBody>
      </p:sp>
      <p:sp>
        <p:nvSpPr>
          <p:cNvPr id="61" name="Text 59"/>
          <p:cNvSpPr/>
          <p:nvPr/>
        </p:nvSpPr>
        <p:spPr>
          <a:xfrm>
            <a:off x="12293600" y="3333485"/>
            <a:ext cx="5554916" cy="888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DnCNN on GPU </a:t>
            </a: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60ms for 512×512 (real-time capable)</a:t>
            </a:r>
            <a:endParaRPr lang="en-US" sz="2550" dirty="0"/>
          </a:p>
        </p:txBody>
      </p:sp>
      <p:sp>
        <p:nvSpPr>
          <p:cNvPr id="62" name="Text 60"/>
          <p:cNvSpPr/>
          <p:nvPr/>
        </p:nvSpPr>
        <p:spPr>
          <a:xfrm>
            <a:off x="12293600" y="4241006"/>
            <a:ext cx="5554916" cy="888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b="1" dirty="0">
                <a:solidFill>
                  <a:srgbClr val="FF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WNNM </a:t>
            </a: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773s for same image (12,000× slower)</a:t>
            </a:r>
            <a:endParaRPr lang="en-US" sz="2550" dirty="0"/>
          </a:p>
        </p:txBody>
      </p:sp>
      <p:sp>
        <p:nvSpPr>
          <p:cNvPr id="63" name="Text 61"/>
          <p:cNvSpPr/>
          <p:nvPr/>
        </p:nvSpPr>
        <p:spPr>
          <a:xfrm>
            <a:off x="12293600" y="5148527"/>
            <a:ext cx="5554916" cy="888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Feed-forward inference → </a:t>
            </a:r>
            <a:r>
              <a:rPr lang="en-US" sz="2550" b="1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latency</a:t>
            </a:r>
            <a:endParaRPr lang="en-US" sz="2550" dirty="0"/>
          </a:p>
        </p:txBody>
      </p:sp>
      <p:sp>
        <p:nvSpPr>
          <p:cNvPr id="64" name="Text 62"/>
          <p:cNvSpPr/>
          <p:nvPr/>
        </p:nvSpPr>
        <p:spPr>
          <a:xfrm>
            <a:off x="12293600" y="6056048"/>
            <a:ext cx="5554916" cy="888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ops are standard conv/BN → </a:t>
            </a:r>
            <a:r>
              <a:rPr lang="en-US" sz="2550" b="1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cuDNN accelerated</a:t>
            </a:r>
            <a:endParaRPr lang="en-US" sz="2550" dirty="0"/>
          </a:p>
        </p:txBody>
      </p:sp>
      <p:sp>
        <p:nvSpPr>
          <p:cNvPr id="65" name="Shape 63"/>
          <p:cNvSpPr/>
          <p:nvPr/>
        </p:nvSpPr>
        <p:spPr>
          <a:xfrm>
            <a:off x="12007850" y="6963569"/>
            <a:ext cx="1839383" cy="1041400"/>
          </a:xfrm>
          <a:prstGeom prst="roundRect">
            <a:avLst>
              <a:gd name="adj" fmla="val 12805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12073467" y="7067285"/>
            <a:ext cx="17081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50" dirty="0">
                <a:solidFill>
                  <a:srgbClr val="8C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60ms</a:t>
            </a:r>
            <a:endParaRPr lang="en-US" sz="4050" dirty="0"/>
          </a:p>
        </p:txBody>
      </p:sp>
      <p:sp>
        <p:nvSpPr>
          <p:cNvPr id="67" name="Text 65"/>
          <p:cNvSpPr/>
          <p:nvPr/>
        </p:nvSpPr>
        <p:spPr>
          <a:xfrm>
            <a:off x="12073467" y="7638785"/>
            <a:ext cx="1708150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512×512 GPU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3923434" y="6963569"/>
            <a:ext cx="1839383" cy="1041400"/>
          </a:xfrm>
          <a:prstGeom prst="roundRect">
            <a:avLst>
              <a:gd name="adj" fmla="val 12805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13989050" y="7067285"/>
            <a:ext cx="17081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50" dirty="0">
                <a:solidFill>
                  <a:srgbClr val="FF9C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12K×</a:t>
            </a:r>
            <a:endParaRPr lang="en-US" sz="4050" dirty="0"/>
          </a:p>
        </p:txBody>
      </p:sp>
      <p:sp>
        <p:nvSpPr>
          <p:cNvPr id="70" name="Text 68"/>
          <p:cNvSpPr/>
          <p:nvPr/>
        </p:nvSpPr>
        <p:spPr>
          <a:xfrm>
            <a:off x="13989050" y="7638785"/>
            <a:ext cx="1708150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WNNM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15839017" y="6963569"/>
            <a:ext cx="1839383" cy="1041400"/>
          </a:xfrm>
          <a:prstGeom prst="roundRect">
            <a:avLst>
              <a:gd name="adj" fmla="val 12805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15904634" y="7067285"/>
            <a:ext cx="17081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50" dirty="0">
                <a:solidFill>
                  <a:srgbClr val="FFFB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556K</a:t>
            </a:r>
            <a:endParaRPr lang="en-US" sz="4050" dirty="0"/>
          </a:p>
        </p:txBody>
      </p:sp>
      <p:sp>
        <p:nvSpPr>
          <p:cNvPr id="73" name="Text 71"/>
          <p:cNvSpPr/>
          <p:nvPr/>
        </p:nvSpPr>
        <p:spPr>
          <a:xfrm>
            <a:off x="15904634" y="7638785"/>
            <a:ext cx="1708150" cy="300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0" y="0"/>
            <a:ext cx="14630400" cy="57150"/>
          </a:xfrm>
          <a:prstGeom prst="rect">
            <a:avLst/>
          </a:prstGeom>
          <a:solidFill>
            <a:srgbClr val="996D1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b="1" kern="0" spc="15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/ 33</a:t>
            </a:r>
            <a:endParaRPr lang="en-US" sz="1650" dirty="0"/>
          </a:p>
        </p:txBody>
      </p:sp>
      <p:sp>
        <p:nvSpPr>
          <p:cNvPr id="77" name="Text 75"/>
          <p:cNvSpPr/>
          <p:nvPr/>
        </p:nvSpPr>
        <p:spPr>
          <a:xfrm>
            <a:off x="1200242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78" name="Text 76"/>
          <p:cNvSpPr/>
          <p:nvPr/>
        </p:nvSpPr>
        <p:spPr>
          <a:xfrm>
            <a:off x="12861528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79" name="Text 77"/>
          <p:cNvSpPr/>
          <p:nvPr/>
        </p:nvSpPr>
        <p:spPr>
          <a:xfrm>
            <a:off x="1297688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80" name="Text 78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81" name="Text 79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82" name="Text 80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83" name="Text 81"/>
          <p:cNvSpPr/>
          <p:nvPr/>
        </p:nvSpPr>
        <p:spPr>
          <a:xfrm>
            <a:off x="15128610" y="203200"/>
            <a:ext cx="54954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84" name="Text 82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85" name="Text 83"/>
          <p:cNvSpPr/>
          <p:nvPr/>
        </p:nvSpPr>
        <p:spPr>
          <a:xfrm>
            <a:off x="15764933" y="190500"/>
            <a:ext cx="617141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FFFB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86" name="Text 84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87" name="Text 85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  <p:sp>
        <p:nvSpPr>
          <p:cNvPr id="88" name="Shape 86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0" y="0"/>
            <a:ext cx="15060612" cy="57150"/>
          </a:xfrm>
          <a:prstGeom prst="rect">
            <a:avLst/>
          </a:prstGeom>
          <a:solidFill>
            <a:srgbClr val="996D1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650" dirty="0"/>
          </a:p>
        </p:txBody>
      </p:sp>
      <p:sp>
        <p:nvSpPr>
          <p:cNvPr id="91" name="Text 89"/>
          <p:cNvSpPr/>
          <p:nvPr/>
        </p:nvSpPr>
        <p:spPr>
          <a:xfrm>
            <a:off x="1200242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92" name="Text 90"/>
          <p:cNvSpPr/>
          <p:nvPr/>
        </p:nvSpPr>
        <p:spPr>
          <a:xfrm>
            <a:off x="12861528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93" name="Text 91"/>
          <p:cNvSpPr/>
          <p:nvPr/>
        </p:nvSpPr>
        <p:spPr>
          <a:xfrm>
            <a:off x="1297688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94" name="Text 92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95" name="Text 93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96" name="Text 94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97" name="Text 95"/>
          <p:cNvSpPr/>
          <p:nvPr/>
        </p:nvSpPr>
        <p:spPr>
          <a:xfrm>
            <a:off x="15128610" y="203200"/>
            <a:ext cx="54954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98" name="Text 96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99" name="Text 97"/>
          <p:cNvSpPr/>
          <p:nvPr/>
        </p:nvSpPr>
        <p:spPr>
          <a:xfrm>
            <a:off x="15764933" y="190500"/>
            <a:ext cx="617141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FFFB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100" name="Text 98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01" name="Text 99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09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3">
            <a:extLst>
              <a:ext uri="{FF2B5EF4-FFF2-40B4-BE49-F238E27FC236}">
                <a16:creationId xmlns:a16="http://schemas.microsoft.com/office/drawing/2014/main" id="{8E88B5BE-25B8-1BF5-2153-2BBE11808BBB}"/>
              </a:ext>
            </a:extLst>
          </p:cNvPr>
          <p:cNvSpPr/>
          <p:nvPr/>
        </p:nvSpPr>
        <p:spPr>
          <a:xfrm>
            <a:off x="590550" y="5056715"/>
            <a:ext cx="8505825" cy="2346325"/>
          </a:xfrm>
          <a:prstGeom prst="roundRect">
            <a:avLst>
              <a:gd name="adj" fmla="val 6522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09600" y="381000"/>
            <a:ext cx="175808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kern="0" spc="150" dirty="0">
                <a:solidFill>
                  <a:srgbClr val="FFFB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COMPLEXITY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17580864" cy="708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Complexity &amp; Optimization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600" y="2550054"/>
            <a:ext cx="87610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Breakdown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609600" y="2954867"/>
            <a:ext cx="8505825" cy="2044700"/>
          </a:xfrm>
          <a:prstGeom prst="roundRect">
            <a:avLst>
              <a:gd name="adj" fmla="val 6522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0467" y="3077633"/>
            <a:ext cx="2408370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1: 3×3×1×64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542999" y="3077633"/>
            <a:ext cx="487759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0467" y="3388783"/>
            <a:ext cx="381515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 2-16: 15×(3×3×64×64)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94253" y="3388783"/>
            <a:ext cx="1036505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27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552,960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0467" y="3699933"/>
            <a:ext cx="254555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17: 3×3×64×1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542999" y="3699933"/>
            <a:ext cx="487759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9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576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0467" y="4011083"/>
            <a:ext cx="254555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BN params: 15×2×64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68626" y="4011083"/>
            <a:ext cx="76213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B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1,920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70467" y="4360333"/>
            <a:ext cx="8184092" cy="16933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0467" y="4453467"/>
            <a:ext cx="799968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6780212" y="4453467"/>
            <a:ext cx="2250546" cy="461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~556K params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707136" y="5166445"/>
            <a:ext cx="87610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Advantages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719328" y="5509683"/>
            <a:ext cx="8486775" cy="1893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Feed-forward: fixed computation per pixel</a:t>
            </a:r>
            <a:endParaRPr lang="en-US" sz="25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GPU-friendly: standard conv/BN ops</a:t>
            </a:r>
            <a:endParaRPr lang="en-US" sz="25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cuDNN v5 acceleration supported</a:t>
            </a:r>
            <a:endParaRPr lang="en-US" sz="25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latency, no iteration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9172575" y="2550054"/>
            <a:ext cx="87610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Optimization Strategies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172575" y="2954867"/>
            <a:ext cx="8505825" cy="1041400"/>
          </a:xfrm>
          <a:prstGeom prst="roundRect">
            <a:avLst>
              <a:gd name="adj" fmla="val 12805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3442" y="3077633"/>
            <a:ext cx="342900" cy="3429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752542" y="3077633"/>
            <a:ext cx="7898471" cy="833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Pruning </a:t>
            </a:r>
            <a:r>
              <a:rPr lang="en-US" sz="25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redundant filters — 30-50% param reduction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172575" y="4072467"/>
            <a:ext cx="8505825" cy="1041400"/>
          </a:xfrm>
          <a:prstGeom prst="roundRect">
            <a:avLst>
              <a:gd name="adj" fmla="val 12805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3442" y="4195233"/>
            <a:ext cx="342900" cy="3429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752542" y="4195233"/>
            <a:ext cx="5570871" cy="833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927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 </a:t>
            </a:r>
            <a:r>
              <a:rPr lang="en-US" sz="25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INT8/FP16 — 2-4× memory reduction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9172575" y="5190067"/>
            <a:ext cx="8505825" cy="1041400"/>
          </a:xfrm>
          <a:prstGeom prst="roundRect">
            <a:avLst>
              <a:gd name="adj" fmla="val 12805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3442" y="5312833"/>
            <a:ext cx="342900" cy="3429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752542" y="5312833"/>
            <a:ext cx="5858517" cy="833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Distillation </a:t>
            </a:r>
            <a:r>
              <a:rPr lang="en-US" sz="25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Shallower student from DnCNN teacher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9172575" y="6307667"/>
            <a:ext cx="8505825" cy="1041400"/>
          </a:xfrm>
          <a:prstGeom prst="roundRect">
            <a:avLst>
              <a:gd name="adj" fmla="val 12805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3442" y="6430433"/>
            <a:ext cx="342900" cy="3429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752542" y="6430433"/>
            <a:ext cx="7392128" cy="833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Depthwise Separable Conv </a:t>
            </a:r>
            <a:r>
              <a:rPr lang="en-US" sz="25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standard convs — ~8-9× FLOP reduction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0" y="0"/>
            <a:ext cx="15239867" cy="57150"/>
          </a:xfrm>
          <a:prstGeom prst="rect">
            <a:avLst/>
          </a:prstGeom>
          <a:solidFill>
            <a:srgbClr val="996D1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b="1" kern="0" spc="15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/ 33</a:t>
            </a:r>
            <a:endParaRPr lang="en-US" sz="1650" dirty="0"/>
          </a:p>
        </p:txBody>
      </p:sp>
      <p:sp>
        <p:nvSpPr>
          <p:cNvPr id="35" name="Text 29"/>
          <p:cNvSpPr/>
          <p:nvPr/>
        </p:nvSpPr>
        <p:spPr>
          <a:xfrm>
            <a:off x="1200242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36" name="Text 30"/>
          <p:cNvSpPr/>
          <p:nvPr/>
        </p:nvSpPr>
        <p:spPr>
          <a:xfrm>
            <a:off x="12861528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7" name="Text 31"/>
          <p:cNvSpPr/>
          <p:nvPr/>
        </p:nvSpPr>
        <p:spPr>
          <a:xfrm>
            <a:off x="1297688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38" name="Text 32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9" name="Text 33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40" name="Text 34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1" name="Text 35"/>
          <p:cNvSpPr/>
          <p:nvPr/>
        </p:nvSpPr>
        <p:spPr>
          <a:xfrm>
            <a:off x="15128610" y="203200"/>
            <a:ext cx="54954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42" name="Text 36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3" name="Text 37"/>
          <p:cNvSpPr/>
          <p:nvPr/>
        </p:nvSpPr>
        <p:spPr>
          <a:xfrm>
            <a:off x="15764933" y="190500"/>
            <a:ext cx="617141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FFFB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44" name="Text 38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5" name="Text 39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  <p:sp>
        <p:nvSpPr>
          <p:cNvPr id="46" name="Shape 4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1"/>
          <p:cNvSpPr/>
          <p:nvPr/>
        </p:nvSpPr>
        <p:spPr>
          <a:xfrm>
            <a:off x="0" y="0"/>
            <a:ext cx="15598511" cy="57150"/>
          </a:xfrm>
          <a:prstGeom prst="rect">
            <a:avLst/>
          </a:prstGeom>
          <a:solidFill>
            <a:srgbClr val="996D1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2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650" dirty="0"/>
          </a:p>
        </p:txBody>
      </p:sp>
      <p:sp>
        <p:nvSpPr>
          <p:cNvPr id="49" name="Text 43"/>
          <p:cNvSpPr/>
          <p:nvPr/>
        </p:nvSpPr>
        <p:spPr>
          <a:xfrm>
            <a:off x="1200242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50" name="Text 44"/>
          <p:cNvSpPr/>
          <p:nvPr/>
        </p:nvSpPr>
        <p:spPr>
          <a:xfrm>
            <a:off x="12861528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1" name="Text 45"/>
          <p:cNvSpPr/>
          <p:nvPr/>
        </p:nvSpPr>
        <p:spPr>
          <a:xfrm>
            <a:off x="1297688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52" name="Text 46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3" name="Text 47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54" name="Text 48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5" name="Text 49"/>
          <p:cNvSpPr/>
          <p:nvPr/>
        </p:nvSpPr>
        <p:spPr>
          <a:xfrm>
            <a:off x="15128610" y="203200"/>
            <a:ext cx="54954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56" name="Text 50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7" name="Text 51"/>
          <p:cNvSpPr/>
          <p:nvPr/>
        </p:nvSpPr>
        <p:spPr>
          <a:xfrm>
            <a:off x="15764933" y="190500"/>
            <a:ext cx="617141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FFFB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58" name="Text 52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9" name="Text 53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709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5808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kern="0" spc="150" dirty="0">
                <a:solidFill>
                  <a:srgbClr val="FFFB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 ANALYSIS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17580864" cy="708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Failure Cases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600" y="1432454"/>
            <a:ext cx="8505825" cy="3675724"/>
          </a:xfrm>
          <a:prstGeom prst="roundRect">
            <a:avLst>
              <a:gd name="adj" fmla="val 4146"/>
            </a:avLst>
          </a:prstGeom>
          <a:solidFill>
            <a:srgbClr val="1113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09600" y="5099711"/>
            <a:ext cx="8505825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9600" y="1432454"/>
            <a:ext cx="8505825" cy="25400"/>
          </a:xfrm>
          <a:prstGeom prst="rect">
            <a:avLst/>
          </a:prstGeom>
          <a:solidFill>
            <a:srgbClr val="8810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9600" y="1432454"/>
            <a:ext cx="9525" cy="3675724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06958" y="1432454"/>
            <a:ext cx="9525" cy="3675724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89517" y="1629304"/>
            <a:ext cx="8390371" cy="41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50" b="1" dirty="0">
                <a:solidFill>
                  <a:srgbClr val="FF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Non-Local Patterns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753629" y="2822310"/>
            <a:ext cx="8390371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RF cannot exploit long-range self-similarity. WNNM/BM3D win on Barbara (-0.71 dB vs BM3D).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72575" y="1432454"/>
            <a:ext cx="8505825" cy="3675724"/>
          </a:xfrm>
          <a:prstGeom prst="roundRect">
            <a:avLst>
              <a:gd name="adj" fmla="val 4146"/>
            </a:avLst>
          </a:prstGeom>
          <a:solidFill>
            <a:srgbClr val="1113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172575" y="5099711"/>
            <a:ext cx="8505825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172575" y="1432454"/>
            <a:ext cx="8505825" cy="25400"/>
          </a:xfrm>
          <a:prstGeom prst="rect">
            <a:avLst/>
          </a:prstGeom>
          <a:solidFill>
            <a:srgbClr val="2A1C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172575" y="1432454"/>
            <a:ext cx="9525" cy="3675724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7669933" y="1432454"/>
            <a:ext cx="9525" cy="3675724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352492" y="1629304"/>
            <a:ext cx="8390371" cy="41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50" b="1" dirty="0">
                <a:solidFill>
                  <a:srgbClr val="927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AWGN Assumption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352492" y="2844138"/>
            <a:ext cx="8390371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noise is signal-dependent, spatially varying. AWGN is a simplification that limits practical applicability.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609600" y="5165328"/>
            <a:ext cx="8505825" cy="4740672"/>
          </a:xfrm>
          <a:prstGeom prst="roundRect">
            <a:avLst>
              <a:gd name="adj" fmla="val 3215"/>
            </a:avLst>
          </a:prstGeom>
          <a:solidFill>
            <a:srgbClr val="1113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9600" y="9897534"/>
            <a:ext cx="8505825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9600" y="5165328"/>
            <a:ext cx="8505825" cy="25400"/>
          </a:xfrm>
          <a:prstGeom prst="rect">
            <a:avLst/>
          </a:prstGeom>
          <a:solidFill>
            <a:srgbClr val="A172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9600" y="5165328"/>
            <a:ext cx="9525" cy="4740672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06958" y="5165328"/>
            <a:ext cx="9525" cy="4740672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89517" y="5362178"/>
            <a:ext cx="8390371" cy="41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50" b="1" dirty="0">
                <a:solidFill>
                  <a:srgbClr val="FFF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Perceptual Loss</a:t>
            </a:r>
            <a:endParaRPr lang="en-US" sz="2550" dirty="0"/>
          </a:p>
        </p:txBody>
      </p:sp>
      <p:sp>
        <p:nvSpPr>
          <p:cNvPr id="24" name="Shape 22"/>
          <p:cNvSpPr/>
          <p:nvPr/>
        </p:nvSpPr>
        <p:spPr>
          <a:xfrm>
            <a:off x="818495" y="6651162"/>
            <a:ext cx="4034896" cy="988616"/>
          </a:xfrm>
          <a:prstGeom prst="roundRect">
            <a:avLst>
              <a:gd name="adj" fmla="val 5781"/>
            </a:avLst>
          </a:prstGeom>
          <a:solidFill>
            <a:srgbClr val="996D1A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8212" y="6748203"/>
            <a:ext cx="3998971" cy="558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3150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3150" dirty="0"/>
          </a:p>
        </p:txBody>
      </p:sp>
      <p:sp>
        <p:nvSpPr>
          <p:cNvPr id="26" name="Text 24"/>
          <p:cNvSpPr/>
          <p:nvPr/>
        </p:nvSpPr>
        <p:spPr>
          <a:xfrm>
            <a:off x="836457" y="7266451"/>
            <a:ext cx="3998971" cy="335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PSNR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929591" y="6651162"/>
            <a:ext cx="4034896" cy="988616"/>
          </a:xfrm>
          <a:prstGeom prst="roundRect">
            <a:avLst>
              <a:gd name="adj" fmla="val 5781"/>
            </a:avLst>
          </a:prstGeom>
          <a:solidFill>
            <a:srgbClr val="7E0F32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47553" y="6727362"/>
            <a:ext cx="3998971" cy="558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3150" dirty="0">
                <a:solidFill>
                  <a:srgbClr val="FF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150" dirty="0"/>
          </a:p>
        </p:txBody>
      </p:sp>
      <p:sp>
        <p:nvSpPr>
          <p:cNvPr id="29" name="Text 27"/>
          <p:cNvSpPr/>
          <p:nvPr/>
        </p:nvSpPr>
        <p:spPr>
          <a:xfrm>
            <a:off x="4947553" y="7266451"/>
            <a:ext cx="3998971" cy="335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Perceptual quality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10250" y="7809971"/>
            <a:ext cx="8390371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MSE optimizes PSNR, not visual quality. GANs and perceptual losses (SRGAN) showed these can diverge.</a:t>
            </a:r>
            <a:endParaRPr lang="en-US" sz="2550" dirty="0"/>
          </a:p>
        </p:txBody>
      </p:sp>
      <p:sp>
        <p:nvSpPr>
          <p:cNvPr id="31" name="Shape 29"/>
          <p:cNvSpPr/>
          <p:nvPr/>
        </p:nvSpPr>
        <p:spPr>
          <a:xfrm>
            <a:off x="9172575" y="5165328"/>
            <a:ext cx="8505825" cy="4740672"/>
          </a:xfrm>
          <a:prstGeom prst="roundRect">
            <a:avLst>
              <a:gd name="adj" fmla="val 3215"/>
            </a:avLst>
          </a:prstGeom>
          <a:solidFill>
            <a:srgbClr val="1113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172575" y="9897534"/>
            <a:ext cx="8505825" cy="9525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172575" y="5165328"/>
            <a:ext cx="8505825" cy="25400"/>
          </a:xfrm>
          <a:prstGeom prst="rect">
            <a:avLst/>
          </a:prstGeom>
          <a:solidFill>
            <a:srgbClr val="3CD8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172575" y="5165328"/>
            <a:ext cx="9525" cy="4740672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7669933" y="5165328"/>
            <a:ext cx="9525" cy="4740672"/>
          </a:xfrm>
          <a:prstGeom prst="rect">
            <a:avLst/>
          </a:prstGeom>
          <a:solidFill>
            <a:srgbClr val="3B3B39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352492" y="5362178"/>
            <a:ext cx="8390371" cy="41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5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Architecture</a:t>
            </a:r>
            <a:endParaRPr lang="en-US" sz="2550" dirty="0"/>
          </a:p>
        </p:txBody>
      </p:sp>
      <p:sp>
        <p:nvSpPr>
          <p:cNvPr id="37" name="Shape 35"/>
          <p:cNvSpPr/>
          <p:nvPr/>
        </p:nvSpPr>
        <p:spPr>
          <a:xfrm>
            <a:off x="9400032" y="7114447"/>
            <a:ext cx="1756437" cy="347133"/>
          </a:xfrm>
          <a:prstGeom prst="roundRect">
            <a:avLst>
              <a:gd name="adj" fmla="val 16463"/>
            </a:avLst>
          </a:prstGeom>
          <a:solidFill>
            <a:srgbClr val="2B1D80">
              <a:alpha val="15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9447742" y="7133961"/>
            <a:ext cx="1642137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927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attention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1194654" y="7088453"/>
            <a:ext cx="2017448" cy="347133"/>
          </a:xfrm>
          <a:prstGeom prst="roundRect">
            <a:avLst>
              <a:gd name="adj" fmla="val 16463"/>
            </a:avLst>
          </a:prstGeom>
          <a:solidFill>
            <a:srgbClr val="32B8A9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1280378" y="7133961"/>
            <a:ext cx="1903148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multi-scale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3278777" y="7095861"/>
            <a:ext cx="1887008" cy="347133"/>
          </a:xfrm>
          <a:prstGeom prst="roundRect">
            <a:avLst>
              <a:gd name="adj" fmla="val 16463"/>
            </a:avLst>
          </a:prstGeom>
          <a:solidFill>
            <a:srgbClr val="7E0F32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3374027" y="7133961"/>
            <a:ext cx="1772708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38" dirty="0">
                <a:solidFill>
                  <a:srgbClr val="FF9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adaptation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9352492" y="7519195"/>
            <a:ext cx="8390371" cy="847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55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works (DRUNet, SwinIR, Restormer) showed attention + multi-scale significantly improve results.</a:t>
            </a:r>
            <a:endParaRPr lang="en-US" sz="2550" dirty="0"/>
          </a:p>
        </p:txBody>
      </p:sp>
      <p:sp>
        <p:nvSpPr>
          <p:cNvPr id="44" name="Shape 42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0" y="0"/>
            <a:ext cx="15849600" cy="57150"/>
          </a:xfrm>
          <a:prstGeom prst="rect">
            <a:avLst/>
          </a:prstGeom>
          <a:solidFill>
            <a:srgbClr val="996D1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b="1" kern="0" spc="15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/ 33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200242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48" name="Text 46"/>
          <p:cNvSpPr/>
          <p:nvPr/>
        </p:nvSpPr>
        <p:spPr>
          <a:xfrm>
            <a:off x="12861528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1297688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50" name="Text 48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1" name="Text 49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3" name="Text 51"/>
          <p:cNvSpPr/>
          <p:nvPr/>
        </p:nvSpPr>
        <p:spPr>
          <a:xfrm>
            <a:off x="15128610" y="203200"/>
            <a:ext cx="54954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54" name="Text 52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15764933" y="190500"/>
            <a:ext cx="617141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FFFB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56" name="Text 54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7" name="Text 55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  <p:sp>
        <p:nvSpPr>
          <p:cNvPr id="58" name="Shape 56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0" y="0"/>
            <a:ext cx="16136408" cy="57150"/>
          </a:xfrm>
          <a:prstGeom prst="rect">
            <a:avLst/>
          </a:prstGeom>
          <a:solidFill>
            <a:srgbClr val="996D1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650" dirty="0"/>
          </a:p>
        </p:txBody>
      </p:sp>
      <p:sp>
        <p:nvSpPr>
          <p:cNvPr id="61" name="Text 59"/>
          <p:cNvSpPr/>
          <p:nvPr/>
        </p:nvSpPr>
        <p:spPr>
          <a:xfrm>
            <a:off x="1200242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62" name="Text 60"/>
          <p:cNvSpPr/>
          <p:nvPr/>
        </p:nvSpPr>
        <p:spPr>
          <a:xfrm>
            <a:off x="12861528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63" name="Text 61"/>
          <p:cNvSpPr/>
          <p:nvPr/>
        </p:nvSpPr>
        <p:spPr>
          <a:xfrm>
            <a:off x="1297688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64" name="Text 62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65" name="Text 63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66" name="Text 64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67" name="Text 65"/>
          <p:cNvSpPr/>
          <p:nvPr/>
        </p:nvSpPr>
        <p:spPr>
          <a:xfrm>
            <a:off x="15128610" y="203200"/>
            <a:ext cx="54954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68" name="Text 66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69" name="Text 67"/>
          <p:cNvSpPr/>
          <p:nvPr/>
        </p:nvSpPr>
        <p:spPr>
          <a:xfrm>
            <a:off x="15764933" y="190500"/>
            <a:ext cx="617141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FFFB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70" name="Text 68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71" name="Text 69"/>
          <p:cNvSpPr/>
          <p:nvPr/>
        </p:nvSpPr>
        <p:spPr>
          <a:xfrm>
            <a:off x="16468858" y="203200"/>
            <a:ext cx="75234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709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5808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kern="0" spc="150" dirty="0">
                <a:solidFill>
                  <a:srgbClr val="927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17580864" cy="708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Contributions &amp; Impact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600" y="1413404"/>
            <a:ext cx="8505825" cy="3848762"/>
          </a:xfrm>
          <a:prstGeom prst="roundRect">
            <a:avLst>
              <a:gd name="adj" fmla="val 3960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89517" y="1593321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B1D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1417" y="1593321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303867" y="1593321"/>
            <a:ext cx="7860591" cy="432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Learning for Denoising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64850" y="3002524"/>
            <a:ext cx="7860591" cy="88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to predict v̂ (noise) instead of x̂ (clean). Connected theoretically to TNRD.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72575" y="1413404"/>
            <a:ext cx="8505825" cy="3848762"/>
          </a:xfrm>
          <a:prstGeom prst="roundRect">
            <a:avLst>
              <a:gd name="adj" fmla="val 3960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352492" y="1593321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32B8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314392" y="1593321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866842" y="1593321"/>
            <a:ext cx="7860591" cy="432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+ BN Synergy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696154" y="2913063"/>
            <a:ext cx="7860591" cy="1300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makes inputs Gaussian-like → ideal for BN. BN stabilizes RL. Together: fastest convergence, best quality.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609600" y="5319315"/>
            <a:ext cx="8505825" cy="3848894"/>
          </a:xfrm>
          <a:prstGeom prst="roundRect">
            <a:avLst>
              <a:gd name="adj" fmla="val 3960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89517" y="549923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7E0F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51417" y="5499232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303867" y="5499232"/>
            <a:ext cx="7860591" cy="432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SOTA Performance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32216" y="6795293"/>
            <a:ext cx="7860591" cy="896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+0.6 dB </a:t>
            </a:r>
            <a:r>
              <a:rPr lang="en-US" sz="25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BM3D · Approaching theoretical bound · </a:t>
            </a:r>
            <a:r>
              <a:rPr lang="en-US" sz="255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60ms </a:t>
            </a:r>
            <a:r>
              <a:rPr lang="en-US" sz="25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GPU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172575" y="5319315"/>
            <a:ext cx="8505825" cy="3848894"/>
          </a:xfrm>
          <a:prstGeom prst="roundRect">
            <a:avLst>
              <a:gd name="adj" fmla="val 3960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352492" y="549923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96D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314392" y="5499232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866842" y="5499232"/>
            <a:ext cx="7860591" cy="432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&amp; Multi-Task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9581092" y="6587332"/>
            <a:ext cx="7860591" cy="1300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5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model for unknown σ (DnCNN-B). One model for 3 tasks (DnCNN-3). Both beat task-specific SOTA.</a:t>
            </a:r>
            <a:endParaRPr lang="en-US" sz="2550" dirty="0"/>
          </a:p>
        </p:txBody>
      </p:sp>
      <p:sp>
        <p:nvSpPr>
          <p:cNvPr id="24" name="Shape 22"/>
          <p:cNvSpPr/>
          <p:nvPr/>
        </p:nvSpPr>
        <p:spPr>
          <a:xfrm>
            <a:off x="609600" y="9206310"/>
            <a:ext cx="17068800" cy="699691"/>
          </a:xfrm>
          <a:prstGeom prst="roundRect">
            <a:avLst>
              <a:gd name="adj" fmla="val 21781"/>
            </a:avLst>
          </a:prstGeom>
          <a:solidFill>
            <a:srgbClr val="2B1D80">
              <a:alpha val="12000"/>
            </a:srgbClr>
          </a:solidFill>
          <a:ln w="8467">
            <a:solidFill>
              <a:srgbClr val="2A1C7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7747" y="9329076"/>
            <a:ext cx="17092507" cy="4922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DnCNN is cited </a:t>
            </a:r>
            <a:r>
              <a:rPr lang="en-US" sz="270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6,000+ </a:t>
            </a: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 and established </a:t>
            </a:r>
            <a:r>
              <a:rPr lang="en-US" sz="270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learning + BN </a:t>
            </a: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the standard denoising paradigm.</a:t>
            </a:r>
            <a:endParaRPr lang="en-US" sz="2700" dirty="0"/>
          </a:p>
        </p:txBody>
      </p:sp>
      <p:sp>
        <p:nvSpPr>
          <p:cNvPr id="26" name="Shape 24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0" y="0"/>
            <a:ext cx="16459200" cy="57150"/>
          </a:xfrm>
          <a:prstGeom prst="rect">
            <a:avLst/>
          </a:prstGeom>
          <a:solidFill>
            <a:srgbClr val="2B1D8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b="1" kern="0" spc="15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/ 33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200242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12861528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1297688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15128610" y="203200"/>
            <a:ext cx="54954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16468858" y="190500"/>
            <a:ext cx="752343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927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  <p:sp>
        <p:nvSpPr>
          <p:cNvPr id="40" name="Shape 38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0" y="0"/>
            <a:ext cx="16674307" cy="57150"/>
          </a:xfrm>
          <a:prstGeom prst="rect">
            <a:avLst/>
          </a:prstGeom>
          <a:solidFill>
            <a:srgbClr val="2B1D8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200242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12861528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1297688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48" name="Text 46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15128610" y="203200"/>
            <a:ext cx="54954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50" name="Text 48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1" name="Text 49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3" name="Text 51"/>
          <p:cNvSpPr/>
          <p:nvPr/>
        </p:nvSpPr>
        <p:spPr>
          <a:xfrm>
            <a:off x="16468858" y="190500"/>
            <a:ext cx="752343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927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709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5808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kern="0" spc="150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17580864" cy="708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Directions &amp; Legacy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600" y="1413404"/>
            <a:ext cx="5638800" cy="4208198"/>
          </a:xfrm>
          <a:prstGeom prst="roundRect">
            <a:avLst>
              <a:gd name="adj" fmla="val 3169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67" y="1555221"/>
            <a:ext cx="266700" cy="2667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13367" y="1536171"/>
            <a:ext cx="1159272" cy="304800"/>
          </a:xfrm>
          <a:prstGeom prst="roundRect">
            <a:avLst>
              <a:gd name="adj" fmla="val 18750"/>
            </a:avLst>
          </a:prstGeom>
          <a:solidFill>
            <a:srgbClr val="2B1D80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208617" y="1574271"/>
            <a:ext cx="104497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38" dirty="0">
                <a:solidFill>
                  <a:srgbClr val="927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0467" y="1917171"/>
            <a:ext cx="5476579" cy="41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Non-Local Attention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767587" y="3095530"/>
            <a:ext cx="547657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Self-attention blocks to capture long-range dependencies DnCNN misses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767587" y="3914680"/>
            <a:ext cx="5476579" cy="335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927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Non-local Neural Networks, NLRN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324600" y="1413404"/>
            <a:ext cx="5638800" cy="4208198"/>
          </a:xfrm>
          <a:prstGeom prst="roundRect">
            <a:avLst>
              <a:gd name="adj" fmla="val 3169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467" y="1555221"/>
            <a:ext cx="266700" cy="2667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828367" y="1536171"/>
            <a:ext cx="836348" cy="304800"/>
          </a:xfrm>
          <a:prstGeom prst="roundRect">
            <a:avLst>
              <a:gd name="adj" fmla="val 18750"/>
            </a:avLst>
          </a:prstGeom>
          <a:solidFill>
            <a:srgbClr val="32B8A9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923617" y="1574271"/>
            <a:ext cx="72204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38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Losses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485467" y="1917171"/>
            <a:ext cx="5476579" cy="41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Perceptual &amp; GAN</a:t>
            </a:r>
            <a:endParaRPr lang="en-US" sz="2550" dirty="0"/>
          </a:p>
        </p:txBody>
      </p:sp>
      <p:sp>
        <p:nvSpPr>
          <p:cNvPr id="16" name="Text 12"/>
          <p:cNvSpPr/>
          <p:nvPr/>
        </p:nvSpPr>
        <p:spPr>
          <a:xfrm>
            <a:off x="6485467" y="3091524"/>
            <a:ext cx="547657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VGG perceptual loss + adversarial training for visual realism over PSNR</a:t>
            </a:r>
            <a:endParaRPr lang="en-US" sz="2250" dirty="0"/>
          </a:p>
        </p:txBody>
      </p:sp>
      <p:sp>
        <p:nvSpPr>
          <p:cNvPr id="17" name="Text 13"/>
          <p:cNvSpPr/>
          <p:nvPr/>
        </p:nvSpPr>
        <p:spPr>
          <a:xfrm>
            <a:off x="6485467" y="3910674"/>
            <a:ext cx="5476579" cy="335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SRGAN, ESRGAN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12039600" y="1413404"/>
            <a:ext cx="5638800" cy="4208198"/>
          </a:xfrm>
          <a:prstGeom prst="roundRect">
            <a:avLst>
              <a:gd name="adj" fmla="val 3169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00467" y="1555221"/>
            <a:ext cx="266700" cy="2667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12543367" y="1536171"/>
            <a:ext cx="728663" cy="304800"/>
          </a:xfrm>
          <a:prstGeom prst="roundRect">
            <a:avLst>
              <a:gd name="adj" fmla="val 18750"/>
            </a:avLst>
          </a:prstGeom>
          <a:solidFill>
            <a:srgbClr val="7E0F32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12638617" y="1574271"/>
            <a:ext cx="61436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38" dirty="0">
                <a:solidFill>
                  <a:srgbClr val="FF9C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Noise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12200467" y="1917171"/>
            <a:ext cx="5476579" cy="41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Noise</a:t>
            </a:r>
            <a:endParaRPr lang="en-US" sz="2550" dirty="0"/>
          </a:p>
        </p:txBody>
      </p:sp>
      <p:sp>
        <p:nvSpPr>
          <p:cNvPr id="23" name="Text 18"/>
          <p:cNvSpPr/>
          <p:nvPr/>
        </p:nvSpPr>
        <p:spPr>
          <a:xfrm>
            <a:off x="12122913" y="3095530"/>
            <a:ext cx="547657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Signal-dependent, spatially varying, sensor-specific noise models</a:t>
            </a:r>
            <a:endParaRPr lang="en-US" sz="2250" dirty="0"/>
          </a:p>
        </p:txBody>
      </p:sp>
      <p:sp>
        <p:nvSpPr>
          <p:cNvPr id="24" name="Text 19"/>
          <p:cNvSpPr/>
          <p:nvPr/>
        </p:nvSpPr>
        <p:spPr>
          <a:xfrm>
            <a:off x="12122913" y="3914680"/>
            <a:ext cx="5476579" cy="335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FF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FFDNet, CBDNet, SCUNet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609600" y="5697802"/>
            <a:ext cx="5638800" cy="4208198"/>
          </a:xfrm>
          <a:prstGeom prst="roundRect">
            <a:avLst>
              <a:gd name="adj" fmla="val 3169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467" y="5839619"/>
            <a:ext cx="266700" cy="26670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1113367" y="5820569"/>
            <a:ext cx="1266825" cy="304800"/>
          </a:xfrm>
          <a:prstGeom prst="roundRect">
            <a:avLst>
              <a:gd name="adj" fmla="val 18750"/>
            </a:avLst>
          </a:prstGeom>
          <a:solidFill>
            <a:srgbClr val="996D1A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1208617" y="5858669"/>
            <a:ext cx="11525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38" dirty="0">
                <a:solidFill>
                  <a:srgbClr val="FFFB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Efficiency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770467" y="6201569"/>
            <a:ext cx="5476579" cy="41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Models</a:t>
            </a:r>
            <a:endParaRPr lang="en-US" sz="2550" dirty="0"/>
          </a:p>
        </p:txBody>
      </p:sp>
      <p:sp>
        <p:nvSpPr>
          <p:cNvPr id="30" name="Text 24"/>
          <p:cNvSpPr/>
          <p:nvPr/>
        </p:nvSpPr>
        <p:spPr>
          <a:xfrm>
            <a:off x="767587" y="7329421"/>
            <a:ext cx="547657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NAS, depthwise convolutions, distillation for mobile/edge deployment</a:t>
            </a:r>
            <a:endParaRPr lang="en-US" sz="2250" dirty="0"/>
          </a:p>
        </p:txBody>
      </p:sp>
      <p:sp>
        <p:nvSpPr>
          <p:cNvPr id="31" name="Text 25"/>
          <p:cNvSpPr/>
          <p:nvPr/>
        </p:nvSpPr>
        <p:spPr>
          <a:xfrm>
            <a:off x="767587" y="8148571"/>
            <a:ext cx="5476579" cy="335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B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ECBSR, IMDN</a:t>
            </a:r>
            <a:endParaRPr lang="en-US" sz="1800" dirty="0"/>
          </a:p>
        </p:txBody>
      </p:sp>
      <p:sp>
        <p:nvSpPr>
          <p:cNvPr id="32" name="Shape 26"/>
          <p:cNvSpPr/>
          <p:nvPr/>
        </p:nvSpPr>
        <p:spPr>
          <a:xfrm>
            <a:off x="6324600" y="5697802"/>
            <a:ext cx="5638800" cy="4208198"/>
          </a:xfrm>
          <a:prstGeom prst="roundRect">
            <a:avLst>
              <a:gd name="adj" fmla="val 3169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5467" y="5839619"/>
            <a:ext cx="266700" cy="26670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6828367" y="5820569"/>
            <a:ext cx="1482196" cy="304800"/>
          </a:xfrm>
          <a:prstGeom prst="roundRect">
            <a:avLst>
              <a:gd name="adj" fmla="val 18750"/>
            </a:avLst>
          </a:prstGeom>
          <a:solidFill>
            <a:srgbClr val="2B1D80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6923617" y="5858669"/>
            <a:ext cx="13678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38" dirty="0">
                <a:solidFill>
                  <a:srgbClr val="927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350" dirty="0"/>
          </a:p>
        </p:txBody>
      </p:sp>
      <p:sp>
        <p:nvSpPr>
          <p:cNvPr id="36" name="Text 29"/>
          <p:cNvSpPr/>
          <p:nvPr/>
        </p:nvSpPr>
        <p:spPr>
          <a:xfrm>
            <a:off x="6485467" y="6201569"/>
            <a:ext cx="5476579" cy="41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 &amp; U-Nets</a:t>
            </a:r>
            <a:endParaRPr lang="en-US" sz="2550" dirty="0"/>
          </a:p>
        </p:txBody>
      </p:sp>
      <p:sp>
        <p:nvSpPr>
          <p:cNvPr id="37" name="Text 30"/>
          <p:cNvSpPr/>
          <p:nvPr/>
        </p:nvSpPr>
        <p:spPr>
          <a:xfrm>
            <a:off x="6485467" y="7291321"/>
            <a:ext cx="547657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Multi-scale + attention architectures built on DnCNN's foundations</a:t>
            </a:r>
            <a:endParaRPr lang="en-US" sz="2250" dirty="0"/>
          </a:p>
        </p:txBody>
      </p:sp>
      <p:sp>
        <p:nvSpPr>
          <p:cNvPr id="38" name="Text 31"/>
          <p:cNvSpPr/>
          <p:nvPr/>
        </p:nvSpPr>
        <p:spPr>
          <a:xfrm>
            <a:off x="6485467" y="8110471"/>
            <a:ext cx="5476579" cy="335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927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SwinIR, Restormer, DRUNet</a:t>
            </a:r>
            <a:endParaRPr lang="en-US" sz="1800" dirty="0"/>
          </a:p>
        </p:txBody>
      </p:sp>
      <p:sp>
        <p:nvSpPr>
          <p:cNvPr id="39" name="Shape 32"/>
          <p:cNvSpPr/>
          <p:nvPr/>
        </p:nvSpPr>
        <p:spPr>
          <a:xfrm>
            <a:off x="12039600" y="5697802"/>
            <a:ext cx="5638800" cy="4208198"/>
          </a:xfrm>
          <a:prstGeom prst="roundRect">
            <a:avLst>
              <a:gd name="adj" fmla="val 3169"/>
            </a:avLst>
          </a:prstGeom>
          <a:solidFill>
            <a:srgbClr val="11131D"/>
          </a:solidFill>
          <a:ln w="8467">
            <a:solidFill>
              <a:srgbClr val="3B3B39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0467" y="5839619"/>
            <a:ext cx="266700" cy="266700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12543367" y="5820569"/>
            <a:ext cx="1804988" cy="304800"/>
          </a:xfrm>
          <a:prstGeom prst="roundRect">
            <a:avLst>
              <a:gd name="adj" fmla="val 18750"/>
            </a:avLst>
          </a:prstGeom>
          <a:solidFill>
            <a:srgbClr val="32B8A9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4"/>
          <p:cNvSpPr/>
          <p:nvPr/>
        </p:nvSpPr>
        <p:spPr>
          <a:xfrm>
            <a:off x="12638617" y="5858669"/>
            <a:ext cx="169068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38" dirty="0">
                <a:solidFill>
                  <a:srgbClr val="8C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Self-Supervised</a:t>
            </a:r>
            <a:endParaRPr lang="en-US" sz="1350" dirty="0"/>
          </a:p>
        </p:txBody>
      </p:sp>
      <p:sp>
        <p:nvSpPr>
          <p:cNvPr id="43" name="Text 35"/>
          <p:cNvSpPr/>
          <p:nvPr/>
        </p:nvSpPr>
        <p:spPr>
          <a:xfrm>
            <a:off x="12200467" y="6201569"/>
            <a:ext cx="5476579" cy="41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Clean Images</a:t>
            </a:r>
            <a:endParaRPr lang="en-US" sz="2550" dirty="0"/>
          </a:p>
        </p:txBody>
      </p:sp>
      <p:sp>
        <p:nvSpPr>
          <p:cNvPr id="44" name="Text 36"/>
          <p:cNvSpPr/>
          <p:nvPr/>
        </p:nvSpPr>
        <p:spPr>
          <a:xfrm>
            <a:off x="12200467" y="7329421"/>
            <a:ext cx="5476579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D3C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denoiser without ground truth clean images</a:t>
            </a:r>
            <a:endParaRPr lang="en-US" sz="2250" dirty="0"/>
          </a:p>
        </p:txBody>
      </p:sp>
      <p:sp>
        <p:nvSpPr>
          <p:cNvPr id="45" name="Text 37"/>
          <p:cNvSpPr/>
          <p:nvPr/>
        </p:nvSpPr>
        <p:spPr>
          <a:xfrm>
            <a:off x="12200467" y="8148571"/>
            <a:ext cx="5476579" cy="3352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Noise2Noise, Noise2Void</a:t>
            </a:r>
            <a:endParaRPr lang="en-US" sz="1800" dirty="0"/>
          </a:p>
        </p:txBody>
      </p:sp>
      <p:sp>
        <p:nvSpPr>
          <p:cNvPr id="46" name="Shape 38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39"/>
          <p:cNvSpPr/>
          <p:nvPr/>
        </p:nvSpPr>
        <p:spPr>
          <a:xfrm>
            <a:off x="0" y="0"/>
            <a:ext cx="17068667" cy="57150"/>
          </a:xfrm>
          <a:prstGeom prst="rect">
            <a:avLst/>
          </a:prstGeom>
          <a:solidFill>
            <a:srgbClr val="2B1D8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0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en-US" sz="1650" b="1" kern="0" spc="15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/ 33</a:t>
            </a:r>
            <a:endParaRPr lang="en-US" sz="1650" dirty="0"/>
          </a:p>
        </p:txBody>
      </p:sp>
      <p:sp>
        <p:nvSpPr>
          <p:cNvPr id="49" name="Text 41"/>
          <p:cNvSpPr/>
          <p:nvPr/>
        </p:nvSpPr>
        <p:spPr>
          <a:xfrm>
            <a:off x="1200242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50" name="Text 42"/>
          <p:cNvSpPr/>
          <p:nvPr/>
        </p:nvSpPr>
        <p:spPr>
          <a:xfrm>
            <a:off x="12861528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1" name="Text 43"/>
          <p:cNvSpPr/>
          <p:nvPr/>
        </p:nvSpPr>
        <p:spPr>
          <a:xfrm>
            <a:off x="1297688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52" name="Text 44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3" name="Text 45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54" name="Text 46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5" name="Text 47"/>
          <p:cNvSpPr/>
          <p:nvPr/>
        </p:nvSpPr>
        <p:spPr>
          <a:xfrm>
            <a:off x="15128610" y="203200"/>
            <a:ext cx="54954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56" name="Text 48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7" name="Text 49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58" name="Text 50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59" name="Text 51"/>
          <p:cNvSpPr/>
          <p:nvPr/>
        </p:nvSpPr>
        <p:spPr>
          <a:xfrm>
            <a:off x="16468858" y="190500"/>
            <a:ext cx="752343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927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  <p:sp>
        <p:nvSpPr>
          <p:cNvPr id="60" name="Shape 52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3"/>
          <p:cNvSpPr/>
          <p:nvPr/>
        </p:nvSpPr>
        <p:spPr>
          <a:xfrm>
            <a:off x="0" y="0"/>
            <a:ext cx="17212204" cy="57150"/>
          </a:xfrm>
          <a:prstGeom prst="rect">
            <a:avLst/>
          </a:prstGeom>
          <a:solidFill>
            <a:srgbClr val="2B1D8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4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1650" dirty="0"/>
          </a:p>
        </p:txBody>
      </p:sp>
      <p:sp>
        <p:nvSpPr>
          <p:cNvPr id="63" name="Text 55"/>
          <p:cNvSpPr/>
          <p:nvPr/>
        </p:nvSpPr>
        <p:spPr>
          <a:xfrm>
            <a:off x="1200242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64" name="Text 56"/>
          <p:cNvSpPr/>
          <p:nvPr/>
        </p:nvSpPr>
        <p:spPr>
          <a:xfrm>
            <a:off x="12861528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65" name="Text 57"/>
          <p:cNvSpPr/>
          <p:nvPr/>
        </p:nvSpPr>
        <p:spPr>
          <a:xfrm>
            <a:off x="1297688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66" name="Text 58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67" name="Text 59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68" name="Text 60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69" name="Text 61"/>
          <p:cNvSpPr/>
          <p:nvPr/>
        </p:nvSpPr>
        <p:spPr>
          <a:xfrm>
            <a:off x="15128610" y="203200"/>
            <a:ext cx="54954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70" name="Text 62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71" name="Text 63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72" name="Text 64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73" name="Text 65"/>
          <p:cNvSpPr/>
          <p:nvPr/>
        </p:nvSpPr>
        <p:spPr>
          <a:xfrm>
            <a:off x="16468858" y="190500"/>
            <a:ext cx="752343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927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709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5808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kern="0" spc="150" dirty="0">
                <a:solidFill>
                  <a:srgbClr val="927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600" y="666750"/>
            <a:ext cx="17580864" cy="708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References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85597" y="2378869"/>
            <a:ext cx="8672703" cy="14005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</a:t>
            </a: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 Zhang et al., "Beyond a Gaussian Denoiser: Residual Learning of Deep CNN for Image Denoising," </a:t>
            </a:r>
            <a:r>
              <a:rPr lang="en-US" sz="2700" i="1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TIP</a:t>
            </a: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2017.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234297" y="2378869"/>
            <a:ext cx="8672703" cy="14005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</a:t>
            </a: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 Dabov et al., "Image denoising by sparse 3-D transform-domain collaborative filtering" (BM3D), </a:t>
            </a:r>
            <a:r>
              <a:rPr lang="en-US" sz="2700" i="1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TIP </a:t>
            </a: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2007.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85597" y="3779441"/>
            <a:ext cx="8672703" cy="946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</a:t>
            </a: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 He et al., "Deep Residual Learning for Image Recognition" (ResNet), </a:t>
            </a:r>
            <a:r>
              <a:rPr lang="en-US" sz="2700" i="1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CVPR</a:t>
            </a: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2016.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234297" y="3779441"/>
            <a:ext cx="8672703" cy="946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</a:t>
            </a: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 Ioffe &amp; C. Szegedy, "Batch Normalization: Accelerating Deep Network Training," </a:t>
            </a:r>
            <a:r>
              <a:rPr lang="en-US" sz="2700" i="1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ICML</a:t>
            </a: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2015.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85597" y="4725856"/>
            <a:ext cx="8672703" cy="946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</a:t>
            </a: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Y. Chen &amp; T. Pock, "Trainable Nonlinear Reaction Diffusion" (TNRD), </a:t>
            </a:r>
            <a:r>
              <a:rPr lang="en-US" sz="2700" i="1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TPAMI</a:t>
            </a: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2016.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234297" y="4725856"/>
            <a:ext cx="8672703" cy="946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</a:t>
            </a: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 Gu et al., "Weighted Nuclear Norm Minimization" (WNNM), </a:t>
            </a:r>
            <a:r>
              <a:rPr lang="en-US" sz="2700" i="1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CVPR</a:t>
            </a: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2014.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85597" y="5672270"/>
            <a:ext cx="8672703" cy="946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 </a:t>
            </a: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Kim et al., "Accurate Image Super-Resolution Using Very Deep CNNs" (VDSR), </a:t>
            </a:r>
            <a:r>
              <a:rPr lang="en-US" sz="2700" i="1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CVPR</a:t>
            </a: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2016.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234297" y="5672270"/>
            <a:ext cx="8672703" cy="946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[8] </a:t>
            </a: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 Simonyan &amp; A. Zisserman, "Very Deep Convolutional Networks" (VGG), </a:t>
            </a:r>
            <a:r>
              <a:rPr lang="en-US" sz="2700" i="1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ICLR</a:t>
            </a: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2015.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85597" y="6618685"/>
            <a:ext cx="8672703" cy="946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[9] </a:t>
            </a: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Levin &amp; B. Nadler, "Natural Image Denoising: Optimality and Inherent Bounds," </a:t>
            </a:r>
            <a:r>
              <a:rPr lang="en-US" sz="2700" i="1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CVPR</a:t>
            </a: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2011.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234297" y="6618685"/>
            <a:ext cx="8672703" cy="946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8C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[10] </a:t>
            </a: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 Schmidt &amp; S. Roth, "Shrinkage Fields for Effective Image Restoration" (CSF), </a:t>
            </a:r>
            <a:r>
              <a:rPr lang="en-US" sz="2700" i="1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CVPR</a:t>
            </a:r>
            <a:r>
              <a:rPr lang="en-US" sz="2700" dirty="0">
                <a:solidFill>
                  <a:srgbClr val="FFF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2014.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0" y="0"/>
            <a:ext cx="17678400" cy="57150"/>
          </a:xfrm>
          <a:prstGeom prst="rect">
            <a:avLst/>
          </a:prstGeom>
          <a:solidFill>
            <a:srgbClr val="2B1D8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00242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12861528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1297688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15128610" y="203200"/>
            <a:ext cx="54954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16468858" y="190500"/>
            <a:ext cx="752343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927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0" y="0"/>
            <a:ext cx="17750103" cy="57150"/>
          </a:xfrm>
          <a:prstGeom prst="rect">
            <a:avLst/>
          </a:prstGeom>
          <a:solidFill>
            <a:srgbClr val="2B1D8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/ 33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200242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INTRODUCTION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12861528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12976887" y="203200"/>
            <a:ext cx="887677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1383598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13951347" y="203200"/>
            <a:ext cx="109048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&amp; TRAINING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15013252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15128610" y="203200"/>
            <a:ext cx="549540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15649575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15764933" y="203200"/>
            <a:ext cx="617141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16353499" y="203200"/>
            <a:ext cx="143933" cy="156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kern="0" spc="38" dirty="0">
                <a:solidFill>
                  <a:srgbClr val="FFFFFF">
                    <a:alpha val="1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16468858" y="190500"/>
            <a:ext cx="752343" cy="182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927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8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971328" y="3304778"/>
            <a:ext cx="4345345" cy="10228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0000"/>
              </a:lnSpc>
              <a:buNone/>
            </a:pPr>
            <a:endParaRPr lang="en-US" sz="7050" dirty="0"/>
          </a:p>
        </p:txBody>
      </p:sp>
      <p:sp>
        <p:nvSpPr>
          <p:cNvPr id="6" name="Text 4"/>
          <p:cNvSpPr/>
          <p:nvPr/>
        </p:nvSpPr>
        <p:spPr>
          <a:xfrm>
            <a:off x="6761080" y="4889632"/>
            <a:ext cx="4765708" cy="607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2960232" y="5753365"/>
            <a:ext cx="12367405" cy="4106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5688983" y="6324865"/>
            <a:ext cx="690990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2B1D8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7792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kern="0" spc="15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/ 30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1A19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2B1D8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67792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kern="0" spc="15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/ 34</a:t>
            </a:r>
            <a:endParaRPr lang="en-US" sz="16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86F5BD0-A44D-94F5-FF92-6C435955D1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41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Text 28">
            <a:extLst>
              <a:ext uri="{FF2B5EF4-FFF2-40B4-BE49-F238E27FC236}">
                <a16:creationId xmlns:a16="http://schemas.microsoft.com/office/drawing/2014/main" id="{A5EB6795-CCC1-9287-38AD-A0011FBD20D4}"/>
              </a:ext>
            </a:extLst>
          </p:cNvPr>
          <p:cNvSpPr/>
          <p:nvPr/>
        </p:nvSpPr>
        <p:spPr>
          <a:xfrm>
            <a:off x="16817314" y="9730317"/>
            <a:ext cx="1089686" cy="309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150" dirty="0">
                <a:solidFill>
                  <a:srgbClr val="FFFFFF">
                    <a:alpha val="4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/ 33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3981</Words>
  <Application>Microsoft Office PowerPoint</Application>
  <PresentationFormat>Custom</PresentationFormat>
  <Paragraphs>1123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-Navid-</cp:lastModifiedBy>
  <cp:revision>59</cp:revision>
  <dcterms:created xsi:type="dcterms:W3CDTF">2026-05-22T12:59:02Z</dcterms:created>
  <dcterms:modified xsi:type="dcterms:W3CDTF">2026-05-23T06:24:52Z</dcterms:modified>
</cp:coreProperties>
</file>